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4" r:id="rId1"/>
    <p:sldMasterId id="2147483695" r:id="rId2"/>
    <p:sldMasterId id="2147483696" r:id="rId3"/>
    <p:sldMasterId id="2147483697" r:id="rId4"/>
  </p:sldMasterIdLst>
  <p:notesMasterIdLst>
    <p:notesMasterId r:id="rId26"/>
  </p:notesMasterIdLst>
  <p:sldIdLst>
    <p:sldId id="256" r:id="rId5"/>
    <p:sldId id="259" r:id="rId6"/>
    <p:sldId id="260" r:id="rId7"/>
    <p:sldId id="261" r:id="rId8"/>
    <p:sldId id="262"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7772400" cy="10058400"/>
  <p:notesSz cx="6858000" cy="9144000"/>
  <p:embeddedFontLst>
    <p:embeddedFont>
      <p:font typeface="Helvetica Neue" panose="020B0600070205080204" charset="0"/>
      <p:regular r:id="rId27"/>
      <p:bold r:id="rId28"/>
      <p:italic r:id="rId29"/>
      <p:boldItalic r:id="rId30"/>
    </p:embeddedFont>
    <p:embeddedFont>
      <p:font typeface="Open Sans" panose="020B0606030504020204" pitchFamily="34" charset="0"/>
      <p:regular r:id="rId31"/>
      <p:bold r:id="rId32"/>
      <p:italic r:id="rId33"/>
      <p:boldItalic r:id="rId34"/>
    </p:embeddedFont>
    <p:embeddedFont>
      <p:font typeface="Open Sans Light" panose="020B0306030504020204" pitchFamily="34" charset="0"/>
      <p:regular r:id="rId35"/>
      <p:bold r:id="rId36"/>
      <p:italic r:id="rId37"/>
      <p:boldItalic r:id="rId38"/>
    </p:embeddedFont>
    <p:embeddedFont>
      <p:font typeface="SCE-PS3 Rodin LATIN" panose="02000700000000000000" pitchFamily="2" charset="0"/>
      <p:bold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1992" y="-101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17.xml"/><Relationship Id="rId34" Type="http://schemas.openxmlformats.org/officeDocument/2006/relationships/font" Target="fonts/font8.fntdata"/><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3.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5.fntdata"/><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7.fntdata"/><Relationship Id="rId38"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e9ed12aab_0_0: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1e9ed12aa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9cfc2a9a8d_0_0:notes"/>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9cfc2a9a8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9c24cf9085_0_31:notes"/>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9c24cf9085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8d8c850c25_0_33: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g8d8c850c25_0_33: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9c24cf9085_0_4: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9c24cf9085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62fb0d8af8_0_0: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g62fb0d8af8_0_0: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8d8c850c25_0_103: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8d8c850c25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64b864f3db_0_1: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g64b864f3db_0_1: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a1e537952f_0_14: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a1e537952f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9dd260ecd2_0_55: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g9dd260ecd2_0_55: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9c24cf9085_0_39: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9c24cf9085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9dd260ecd2_0_75: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g9dd260ecd2_0_75: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9dd260ecd2_0_9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9dd260ecd2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9c24cf9085_0_7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9c24cf9085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a45bde9993_0_5: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ga45bde9993_0_5: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a45bde9993_0_10: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a45bde9993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9dd260ecd2_0_80: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g9dd260ecd2_0_80: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9c24cf9085_0_45: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9c24cf9085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9b75228fd4_1_1: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g9b75228fd4_1_1: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9dd260ecd2_0_98: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9dd260ecd2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a:extLst>
            <a:ext uri="{FF2B5EF4-FFF2-40B4-BE49-F238E27FC236}">
              <a16:creationId xmlns:a16="http://schemas.microsoft.com/office/drawing/2014/main" id="{48F5EAC4-BAF8-5F94-3F67-0D67CC474186}"/>
            </a:ext>
          </a:extLst>
        </p:cNvPr>
        <p:cNvGrpSpPr/>
        <p:nvPr/>
      </p:nvGrpSpPr>
      <p:grpSpPr>
        <a:xfrm>
          <a:off x="0" y="0"/>
          <a:ext cx="0" cy="0"/>
          <a:chOff x="0" y="0"/>
          <a:chExt cx="0" cy="0"/>
        </a:xfrm>
      </p:grpSpPr>
      <p:sp>
        <p:nvSpPr>
          <p:cNvPr id="311" name="Google Shape;311;g9dd260ecd2_0_98:notes">
            <a:extLst>
              <a:ext uri="{FF2B5EF4-FFF2-40B4-BE49-F238E27FC236}">
                <a16:creationId xmlns:a16="http://schemas.microsoft.com/office/drawing/2014/main" id="{6A591A05-F09A-47CE-CF20-8C1317451EEF}"/>
              </a:ext>
            </a:extLst>
          </p:cNvPr>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9dd260ecd2_0_98:notes">
            <a:extLst>
              <a:ext uri="{FF2B5EF4-FFF2-40B4-BE49-F238E27FC236}">
                <a16:creationId xmlns:a16="http://schemas.microsoft.com/office/drawing/2014/main" id="{9F58FFF5-10CC-AB8E-C87E-57006CEC803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563807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264952" y="1456058"/>
            <a:ext cx="7242600" cy="40140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264945" y="5542289"/>
            <a:ext cx="7242600" cy="1550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264945" y="4206107"/>
            <a:ext cx="7242600" cy="16461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264945" y="2253729"/>
            <a:ext cx="7242600" cy="66810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264945" y="2253729"/>
            <a:ext cx="3399900" cy="6681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107540" y="2253729"/>
            <a:ext cx="3399900" cy="6681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264945" y="1086507"/>
            <a:ext cx="2386800" cy="14778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264945" y="2717440"/>
            <a:ext cx="2386800" cy="6217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16713" y="880293"/>
            <a:ext cx="5412600" cy="7999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25675" y="2411542"/>
            <a:ext cx="3438300" cy="28986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25675" y="5481569"/>
            <a:ext cx="3438300" cy="2415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198575" y="1415969"/>
            <a:ext cx="3261300" cy="7226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264945" y="8273124"/>
            <a:ext cx="5099100" cy="11832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264945" y="2163089"/>
            <a:ext cx="7242600" cy="38397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264945" y="6164351"/>
            <a:ext cx="7242600" cy="25437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5"/>
        <p:cNvGrpSpPr/>
        <p:nvPr/>
      </p:nvGrpSpPr>
      <p:grpSpPr>
        <a:xfrm>
          <a:off x="0" y="0"/>
          <a:ext cx="0" cy="0"/>
          <a:chOff x="0" y="0"/>
          <a:chExt cx="0" cy="0"/>
        </a:xfrm>
      </p:grpSpPr>
      <p:sp>
        <p:nvSpPr>
          <p:cNvPr id="56" name="Google Shape;56;p14"/>
          <p:cNvSpPr txBox="1">
            <a:spLocks noGrp="1"/>
          </p:cNvSpPr>
          <p:nvPr>
            <p:ph type="ctrTitle"/>
          </p:nvPr>
        </p:nvSpPr>
        <p:spPr>
          <a:xfrm>
            <a:off x="264952" y="1456058"/>
            <a:ext cx="7242600" cy="4014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57" name="Google Shape;57;p14"/>
          <p:cNvSpPr txBox="1">
            <a:spLocks noGrp="1"/>
          </p:cNvSpPr>
          <p:nvPr>
            <p:ph type="subTitle" idx="1"/>
          </p:nvPr>
        </p:nvSpPr>
        <p:spPr>
          <a:xfrm>
            <a:off x="264945" y="5542289"/>
            <a:ext cx="7242600" cy="1550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264945" y="4206107"/>
            <a:ext cx="7242600" cy="16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0"/>
        <p:cNvGrpSpPr/>
        <p:nvPr/>
      </p:nvGrpSpPr>
      <p:grpSpPr>
        <a:xfrm>
          <a:off x="0" y="0"/>
          <a:ext cx="0" cy="0"/>
          <a:chOff x="0" y="0"/>
          <a:chExt cx="0" cy="0"/>
        </a:xfrm>
      </p:grpSpPr>
      <p:sp>
        <p:nvSpPr>
          <p:cNvPr id="61" name="Google Shape;61;p16"/>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2" name="Google Shape;62;p16"/>
          <p:cNvSpPr txBox="1">
            <a:spLocks noGrp="1"/>
          </p:cNvSpPr>
          <p:nvPr>
            <p:ph type="body" idx="1"/>
          </p:nvPr>
        </p:nvSpPr>
        <p:spPr>
          <a:xfrm>
            <a:off x="264945" y="2253729"/>
            <a:ext cx="7242600" cy="62397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3"/>
        <p:cNvGrpSpPr/>
        <p:nvPr/>
      </p:nvGrpSpPr>
      <p:grpSpPr>
        <a:xfrm>
          <a:off x="0" y="0"/>
          <a:ext cx="0" cy="0"/>
          <a:chOff x="0" y="0"/>
          <a:chExt cx="0" cy="0"/>
        </a:xfrm>
      </p:grpSpPr>
      <p:sp>
        <p:nvSpPr>
          <p:cNvPr id="64" name="Google Shape;64;p17"/>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5" name="Google Shape;65;p17"/>
          <p:cNvSpPr txBox="1">
            <a:spLocks noGrp="1"/>
          </p:cNvSpPr>
          <p:nvPr>
            <p:ph type="body" idx="1"/>
          </p:nvPr>
        </p:nvSpPr>
        <p:spPr>
          <a:xfrm>
            <a:off x="264945"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66" name="Google Shape;66;p17"/>
          <p:cNvSpPr txBox="1">
            <a:spLocks noGrp="1"/>
          </p:cNvSpPr>
          <p:nvPr>
            <p:ph type="body" idx="2"/>
          </p:nvPr>
        </p:nvSpPr>
        <p:spPr>
          <a:xfrm>
            <a:off x="4107540"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7"/>
        <p:cNvGrpSpPr/>
        <p:nvPr/>
      </p:nvGrpSpPr>
      <p:grpSpPr>
        <a:xfrm>
          <a:off x="0" y="0"/>
          <a:ext cx="0" cy="0"/>
          <a:chOff x="0" y="0"/>
          <a:chExt cx="0" cy="0"/>
        </a:xfrm>
      </p:grpSpPr>
      <p:sp>
        <p:nvSpPr>
          <p:cNvPr id="68" name="Google Shape;68;p18"/>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9"/>
        <p:cNvGrpSpPr/>
        <p:nvPr/>
      </p:nvGrpSpPr>
      <p:grpSpPr>
        <a:xfrm>
          <a:off x="0" y="0"/>
          <a:ext cx="0" cy="0"/>
          <a:chOff x="0" y="0"/>
          <a:chExt cx="0" cy="0"/>
        </a:xfrm>
      </p:grpSpPr>
      <p:sp>
        <p:nvSpPr>
          <p:cNvPr id="70" name="Google Shape;70;p19"/>
          <p:cNvSpPr txBox="1">
            <a:spLocks noGrp="1"/>
          </p:cNvSpPr>
          <p:nvPr>
            <p:ph type="title"/>
          </p:nvPr>
        </p:nvSpPr>
        <p:spPr>
          <a:xfrm>
            <a:off x="264945" y="1086507"/>
            <a:ext cx="2386800" cy="1477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71" name="Google Shape;71;p19"/>
          <p:cNvSpPr txBox="1">
            <a:spLocks noGrp="1"/>
          </p:cNvSpPr>
          <p:nvPr>
            <p:ph type="body" idx="1"/>
          </p:nvPr>
        </p:nvSpPr>
        <p:spPr>
          <a:xfrm>
            <a:off x="264945" y="2717440"/>
            <a:ext cx="2386800" cy="62175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2"/>
        <p:cNvGrpSpPr/>
        <p:nvPr/>
      </p:nvGrpSpPr>
      <p:grpSpPr>
        <a:xfrm>
          <a:off x="0" y="0"/>
          <a:ext cx="0" cy="0"/>
          <a:chOff x="0" y="0"/>
          <a:chExt cx="0" cy="0"/>
        </a:xfrm>
      </p:grpSpPr>
      <p:sp>
        <p:nvSpPr>
          <p:cNvPr id="73" name="Google Shape;73;p20"/>
          <p:cNvSpPr txBox="1">
            <a:spLocks noGrp="1"/>
          </p:cNvSpPr>
          <p:nvPr>
            <p:ph type="title"/>
          </p:nvPr>
        </p:nvSpPr>
        <p:spPr>
          <a:xfrm>
            <a:off x="416713" y="880293"/>
            <a:ext cx="5412600" cy="7999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4"/>
        <p:cNvGrpSpPr/>
        <p:nvPr/>
      </p:nvGrpSpPr>
      <p:grpSpPr>
        <a:xfrm>
          <a:off x="0" y="0"/>
          <a:ext cx="0" cy="0"/>
          <a:chOff x="0" y="0"/>
          <a:chExt cx="0" cy="0"/>
        </a:xfrm>
      </p:grpSpPr>
      <p:sp>
        <p:nvSpPr>
          <p:cNvPr id="75" name="Google Shape;75;p21"/>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1"/>
          <p:cNvSpPr txBox="1">
            <a:spLocks noGrp="1"/>
          </p:cNvSpPr>
          <p:nvPr>
            <p:ph type="title"/>
          </p:nvPr>
        </p:nvSpPr>
        <p:spPr>
          <a:xfrm>
            <a:off x="225675" y="2411542"/>
            <a:ext cx="3438300" cy="2898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77" name="Google Shape;77;p21"/>
          <p:cNvSpPr txBox="1">
            <a:spLocks noGrp="1"/>
          </p:cNvSpPr>
          <p:nvPr>
            <p:ph type="subTitle" idx="1"/>
          </p:nvPr>
        </p:nvSpPr>
        <p:spPr>
          <a:xfrm>
            <a:off x="225675" y="5481569"/>
            <a:ext cx="3438300" cy="2415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78" name="Google Shape;78;p21"/>
          <p:cNvSpPr txBox="1">
            <a:spLocks noGrp="1"/>
          </p:cNvSpPr>
          <p:nvPr>
            <p:ph type="body" idx="2"/>
          </p:nvPr>
        </p:nvSpPr>
        <p:spPr>
          <a:xfrm>
            <a:off x="4198575" y="1415969"/>
            <a:ext cx="3261300" cy="72261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9"/>
        <p:cNvGrpSpPr/>
        <p:nvPr/>
      </p:nvGrpSpPr>
      <p:grpSpPr>
        <a:xfrm>
          <a:off x="0" y="0"/>
          <a:ext cx="0" cy="0"/>
          <a:chOff x="0" y="0"/>
          <a:chExt cx="0" cy="0"/>
        </a:xfrm>
      </p:grpSpPr>
      <p:sp>
        <p:nvSpPr>
          <p:cNvPr id="80" name="Google Shape;80;p22"/>
          <p:cNvSpPr txBox="1">
            <a:spLocks noGrp="1"/>
          </p:cNvSpPr>
          <p:nvPr>
            <p:ph type="body" idx="1"/>
          </p:nvPr>
        </p:nvSpPr>
        <p:spPr>
          <a:xfrm>
            <a:off x="264945" y="8273124"/>
            <a:ext cx="5099100" cy="11832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SzPts val="1800"/>
              <a:buNone/>
              <a:defRPr/>
            </a:lvl1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1"/>
        <p:cNvGrpSpPr/>
        <p:nvPr/>
      </p:nvGrpSpPr>
      <p:grpSpPr>
        <a:xfrm>
          <a:off x="0" y="0"/>
          <a:ext cx="0" cy="0"/>
          <a:chOff x="0" y="0"/>
          <a:chExt cx="0" cy="0"/>
        </a:xfrm>
      </p:grpSpPr>
      <p:sp>
        <p:nvSpPr>
          <p:cNvPr id="82" name="Google Shape;82;p23"/>
          <p:cNvSpPr txBox="1">
            <a:spLocks noGrp="1"/>
          </p:cNvSpPr>
          <p:nvPr>
            <p:ph type="title" hasCustomPrompt="1"/>
          </p:nvPr>
        </p:nvSpPr>
        <p:spPr>
          <a:xfrm>
            <a:off x="264945" y="2163089"/>
            <a:ext cx="7242600" cy="3839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83" name="Google Shape;83;p23"/>
          <p:cNvSpPr txBox="1">
            <a:spLocks noGrp="1"/>
          </p:cNvSpPr>
          <p:nvPr>
            <p:ph type="body" idx="1"/>
          </p:nvPr>
        </p:nvSpPr>
        <p:spPr>
          <a:xfrm>
            <a:off x="264945" y="6164351"/>
            <a:ext cx="7242600" cy="2543700"/>
          </a:xfrm>
          <a:prstGeom prst="rect">
            <a:avLst/>
          </a:prstGeom>
        </p:spPr>
        <p:txBody>
          <a:bodyPr spcFirstLastPara="1" wrap="square" lIns="91425" tIns="91425" rIns="91425" bIns="91425" anchor="t" anchorCtr="0">
            <a:noAutofit/>
          </a:bodyPr>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4"/>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9"/>
        <p:cNvGrpSpPr/>
        <p:nvPr/>
      </p:nvGrpSpPr>
      <p:grpSpPr>
        <a:xfrm>
          <a:off x="0" y="0"/>
          <a:ext cx="0" cy="0"/>
          <a:chOff x="0" y="0"/>
          <a:chExt cx="0" cy="0"/>
        </a:xfrm>
      </p:grpSpPr>
      <p:sp>
        <p:nvSpPr>
          <p:cNvPr id="90" name="Google Shape;90;p26"/>
          <p:cNvSpPr txBox="1">
            <a:spLocks noGrp="1"/>
          </p:cNvSpPr>
          <p:nvPr>
            <p:ph type="ctrTitle"/>
          </p:nvPr>
        </p:nvSpPr>
        <p:spPr>
          <a:xfrm>
            <a:off x="264952" y="1456058"/>
            <a:ext cx="7242600" cy="4014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91" name="Google Shape;91;p26"/>
          <p:cNvSpPr txBox="1">
            <a:spLocks noGrp="1"/>
          </p:cNvSpPr>
          <p:nvPr>
            <p:ph type="subTitle" idx="1"/>
          </p:nvPr>
        </p:nvSpPr>
        <p:spPr>
          <a:xfrm>
            <a:off x="264945" y="5542289"/>
            <a:ext cx="7242600" cy="1550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2"/>
        <p:cNvGrpSpPr/>
        <p:nvPr/>
      </p:nvGrpSpPr>
      <p:grpSpPr>
        <a:xfrm>
          <a:off x="0" y="0"/>
          <a:ext cx="0" cy="0"/>
          <a:chOff x="0" y="0"/>
          <a:chExt cx="0" cy="0"/>
        </a:xfrm>
      </p:grpSpPr>
      <p:sp>
        <p:nvSpPr>
          <p:cNvPr id="93" name="Google Shape;93;p27"/>
          <p:cNvSpPr txBox="1">
            <a:spLocks noGrp="1"/>
          </p:cNvSpPr>
          <p:nvPr>
            <p:ph type="title"/>
          </p:nvPr>
        </p:nvSpPr>
        <p:spPr>
          <a:xfrm>
            <a:off x="264945" y="4206107"/>
            <a:ext cx="7242600" cy="16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4"/>
        <p:cNvGrpSpPr/>
        <p:nvPr/>
      </p:nvGrpSpPr>
      <p:grpSpPr>
        <a:xfrm>
          <a:off x="0" y="0"/>
          <a:ext cx="0" cy="0"/>
          <a:chOff x="0" y="0"/>
          <a:chExt cx="0" cy="0"/>
        </a:xfrm>
      </p:grpSpPr>
      <p:sp>
        <p:nvSpPr>
          <p:cNvPr id="95" name="Google Shape;95;p28"/>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4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6" name="Google Shape;96;p28"/>
          <p:cNvSpPr txBox="1">
            <a:spLocks noGrp="1"/>
          </p:cNvSpPr>
          <p:nvPr>
            <p:ph type="body" idx="1"/>
          </p:nvPr>
        </p:nvSpPr>
        <p:spPr>
          <a:xfrm>
            <a:off x="264945" y="2253729"/>
            <a:ext cx="7242600" cy="6239700"/>
          </a:xfrm>
          <a:prstGeom prst="rect">
            <a:avLst/>
          </a:prstGeom>
        </p:spPr>
        <p:txBody>
          <a:bodyPr spcFirstLastPara="1" wrap="square" lIns="91425" tIns="91425" rIns="91425" bIns="91425" anchor="t" anchorCtr="0">
            <a:noAutofit/>
          </a:bodyPr>
          <a:lstStyle>
            <a:lvl1pPr marL="457200" lvl="0" indent="-419100" rtl="0">
              <a:spcBef>
                <a:spcPts val="0"/>
              </a:spcBef>
              <a:spcAft>
                <a:spcPts val="0"/>
              </a:spcAft>
              <a:buSzPts val="3000"/>
              <a:buChar char="●"/>
              <a:defRPr sz="3000"/>
            </a:lvl1pPr>
            <a:lvl2pPr marL="914400" lvl="1" indent="-381000" rtl="0">
              <a:spcBef>
                <a:spcPts val="1600"/>
              </a:spcBef>
              <a:spcAft>
                <a:spcPts val="0"/>
              </a:spcAft>
              <a:buSzPts val="2400"/>
              <a:buChar char="○"/>
              <a:defRPr sz="2400"/>
            </a:lvl2pPr>
            <a:lvl3pPr marL="1371600" lvl="2" indent="-342900" rtl="0">
              <a:spcBef>
                <a:spcPts val="1600"/>
              </a:spcBef>
              <a:spcAft>
                <a:spcPts val="0"/>
              </a:spcAft>
              <a:buSzPts val="1800"/>
              <a:buChar char="■"/>
              <a:defRPr sz="1800"/>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7"/>
        <p:cNvGrpSpPr/>
        <p:nvPr/>
      </p:nvGrpSpPr>
      <p:grpSpPr>
        <a:xfrm>
          <a:off x="0" y="0"/>
          <a:ext cx="0" cy="0"/>
          <a:chOff x="0" y="0"/>
          <a:chExt cx="0" cy="0"/>
        </a:xfrm>
      </p:grpSpPr>
      <p:sp>
        <p:nvSpPr>
          <p:cNvPr id="98" name="Google Shape;98;p29"/>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4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9" name="Google Shape;99;p29"/>
          <p:cNvSpPr txBox="1">
            <a:spLocks noGrp="1"/>
          </p:cNvSpPr>
          <p:nvPr>
            <p:ph type="body" idx="1"/>
          </p:nvPr>
        </p:nvSpPr>
        <p:spPr>
          <a:xfrm>
            <a:off x="264945"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100" name="Google Shape;100;p29"/>
          <p:cNvSpPr txBox="1">
            <a:spLocks noGrp="1"/>
          </p:cNvSpPr>
          <p:nvPr>
            <p:ph type="body" idx="2"/>
          </p:nvPr>
        </p:nvSpPr>
        <p:spPr>
          <a:xfrm>
            <a:off x="4107540"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1"/>
        <p:cNvGrpSpPr/>
        <p:nvPr/>
      </p:nvGrpSpPr>
      <p:grpSpPr>
        <a:xfrm>
          <a:off x="0" y="0"/>
          <a:ext cx="0" cy="0"/>
          <a:chOff x="0" y="0"/>
          <a:chExt cx="0" cy="0"/>
        </a:xfrm>
      </p:grpSpPr>
      <p:sp>
        <p:nvSpPr>
          <p:cNvPr id="102" name="Google Shape;102;p30"/>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4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3"/>
        <p:cNvGrpSpPr/>
        <p:nvPr/>
      </p:nvGrpSpPr>
      <p:grpSpPr>
        <a:xfrm>
          <a:off x="0" y="0"/>
          <a:ext cx="0" cy="0"/>
          <a:chOff x="0" y="0"/>
          <a:chExt cx="0" cy="0"/>
        </a:xfrm>
      </p:grpSpPr>
      <p:sp>
        <p:nvSpPr>
          <p:cNvPr id="104" name="Google Shape;104;p31"/>
          <p:cNvSpPr txBox="1">
            <a:spLocks noGrp="1"/>
          </p:cNvSpPr>
          <p:nvPr>
            <p:ph type="title"/>
          </p:nvPr>
        </p:nvSpPr>
        <p:spPr>
          <a:xfrm>
            <a:off x="264945" y="1086507"/>
            <a:ext cx="2386800" cy="1477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5" name="Google Shape;105;p31"/>
          <p:cNvSpPr txBox="1">
            <a:spLocks noGrp="1"/>
          </p:cNvSpPr>
          <p:nvPr>
            <p:ph type="body" idx="1"/>
          </p:nvPr>
        </p:nvSpPr>
        <p:spPr>
          <a:xfrm>
            <a:off x="264945" y="2717440"/>
            <a:ext cx="2386800" cy="62175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06"/>
        <p:cNvGrpSpPr/>
        <p:nvPr/>
      </p:nvGrpSpPr>
      <p:grpSpPr>
        <a:xfrm>
          <a:off x="0" y="0"/>
          <a:ext cx="0" cy="0"/>
          <a:chOff x="0" y="0"/>
          <a:chExt cx="0" cy="0"/>
        </a:xfrm>
      </p:grpSpPr>
      <p:sp>
        <p:nvSpPr>
          <p:cNvPr id="107" name="Google Shape;107;p32"/>
          <p:cNvSpPr txBox="1">
            <a:spLocks noGrp="1"/>
          </p:cNvSpPr>
          <p:nvPr>
            <p:ph type="title"/>
          </p:nvPr>
        </p:nvSpPr>
        <p:spPr>
          <a:xfrm>
            <a:off x="416713" y="880293"/>
            <a:ext cx="5412600" cy="7999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08"/>
        <p:cNvGrpSpPr/>
        <p:nvPr/>
      </p:nvGrpSpPr>
      <p:grpSpPr>
        <a:xfrm>
          <a:off x="0" y="0"/>
          <a:ext cx="0" cy="0"/>
          <a:chOff x="0" y="0"/>
          <a:chExt cx="0" cy="0"/>
        </a:xfrm>
      </p:grpSpPr>
      <p:sp>
        <p:nvSpPr>
          <p:cNvPr id="109" name="Google Shape;109;p33"/>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33"/>
          <p:cNvSpPr txBox="1">
            <a:spLocks noGrp="1"/>
          </p:cNvSpPr>
          <p:nvPr>
            <p:ph type="title"/>
          </p:nvPr>
        </p:nvSpPr>
        <p:spPr>
          <a:xfrm>
            <a:off x="225675" y="2411542"/>
            <a:ext cx="3438300" cy="2898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11" name="Google Shape;111;p33"/>
          <p:cNvSpPr txBox="1">
            <a:spLocks noGrp="1"/>
          </p:cNvSpPr>
          <p:nvPr>
            <p:ph type="subTitle" idx="1"/>
          </p:nvPr>
        </p:nvSpPr>
        <p:spPr>
          <a:xfrm>
            <a:off x="225675" y="5481569"/>
            <a:ext cx="3438300" cy="2415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12" name="Google Shape;112;p33"/>
          <p:cNvSpPr txBox="1">
            <a:spLocks noGrp="1"/>
          </p:cNvSpPr>
          <p:nvPr>
            <p:ph type="body" idx="2"/>
          </p:nvPr>
        </p:nvSpPr>
        <p:spPr>
          <a:xfrm>
            <a:off x="4198575" y="1415969"/>
            <a:ext cx="3261300" cy="72261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13"/>
        <p:cNvGrpSpPr/>
        <p:nvPr/>
      </p:nvGrpSpPr>
      <p:grpSpPr>
        <a:xfrm>
          <a:off x="0" y="0"/>
          <a:ext cx="0" cy="0"/>
          <a:chOff x="0" y="0"/>
          <a:chExt cx="0" cy="0"/>
        </a:xfrm>
      </p:grpSpPr>
      <p:sp>
        <p:nvSpPr>
          <p:cNvPr id="114" name="Google Shape;114;p34"/>
          <p:cNvSpPr txBox="1">
            <a:spLocks noGrp="1"/>
          </p:cNvSpPr>
          <p:nvPr>
            <p:ph type="body" idx="1"/>
          </p:nvPr>
        </p:nvSpPr>
        <p:spPr>
          <a:xfrm>
            <a:off x="264945" y="8273124"/>
            <a:ext cx="5099100" cy="11832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SzPts val="1800"/>
              <a:buNone/>
              <a:defRPr/>
            </a:lvl1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15"/>
        <p:cNvGrpSpPr/>
        <p:nvPr/>
      </p:nvGrpSpPr>
      <p:grpSpPr>
        <a:xfrm>
          <a:off x="0" y="0"/>
          <a:ext cx="0" cy="0"/>
          <a:chOff x="0" y="0"/>
          <a:chExt cx="0" cy="0"/>
        </a:xfrm>
      </p:grpSpPr>
      <p:sp>
        <p:nvSpPr>
          <p:cNvPr id="116" name="Google Shape;116;p35"/>
          <p:cNvSpPr txBox="1">
            <a:spLocks noGrp="1"/>
          </p:cNvSpPr>
          <p:nvPr>
            <p:ph type="title" hasCustomPrompt="1"/>
          </p:nvPr>
        </p:nvSpPr>
        <p:spPr>
          <a:xfrm>
            <a:off x="264945" y="2163089"/>
            <a:ext cx="7242600" cy="3839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17" name="Google Shape;117;p35"/>
          <p:cNvSpPr txBox="1">
            <a:spLocks noGrp="1"/>
          </p:cNvSpPr>
          <p:nvPr>
            <p:ph type="body" idx="1"/>
          </p:nvPr>
        </p:nvSpPr>
        <p:spPr>
          <a:xfrm>
            <a:off x="264945" y="6164351"/>
            <a:ext cx="7242600" cy="2543700"/>
          </a:xfrm>
          <a:prstGeom prst="rect">
            <a:avLst/>
          </a:prstGeom>
        </p:spPr>
        <p:txBody>
          <a:bodyPr spcFirstLastPara="1" wrap="square" lIns="91425" tIns="91425" rIns="91425" bIns="91425" anchor="t" anchorCtr="0">
            <a:noAutofit/>
          </a:bodyPr>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8"/>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mp; Subtitle" type="title">
  <p:cSld name="TITLE">
    <p:spTree>
      <p:nvGrpSpPr>
        <p:cNvPr id="1" name="Shape 123"/>
        <p:cNvGrpSpPr/>
        <p:nvPr/>
      </p:nvGrpSpPr>
      <p:grpSpPr>
        <a:xfrm>
          <a:off x="0" y="0"/>
          <a:ext cx="0" cy="0"/>
          <a:chOff x="0" y="0"/>
          <a:chExt cx="0" cy="0"/>
        </a:xfrm>
      </p:grpSpPr>
      <p:sp>
        <p:nvSpPr>
          <p:cNvPr id="124" name="Google Shape;124;p38"/>
          <p:cNvSpPr txBox="1">
            <a:spLocks noGrp="1"/>
          </p:cNvSpPr>
          <p:nvPr>
            <p:ph type="title"/>
          </p:nvPr>
        </p:nvSpPr>
        <p:spPr>
          <a:xfrm>
            <a:off x="1540817" y="1689497"/>
            <a:ext cx="4690800" cy="3405000"/>
          </a:xfrm>
          <a:prstGeom prst="rect">
            <a:avLst/>
          </a:prstGeom>
          <a:noFill/>
          <a:ln>
            <a:noFill/>
          </a:ln>
        </p:spPr>
        <p:txBody>
          <a:bodyPr spcFirstLastPara="1" wrap="square" lIns="34275" tIns="34275" rIns="34275" bIns="34275" anchor="b"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25" name="Google Shape;125;p38"/>
          <p:cNvSpPr txBox="1">
            <a:spLocks noGrp="1"/>
          </p:cNvSpPr>
          <p:nvPr>
            <p:ph type="body" idx="1"/>
          </p:nvPr>
        </p:nvSpPr>
        <p:spPr>
          <a:xfrm>
            <a:off x="1540817" y="5186362"/>
            <a:ext cx="4690800" cy="1165800"/>
          </a:xfrm>
          <a:prstGeom prst="rect">
            <a:avLst/>
          </a:prstGeom>
          <a:noFill/>
          <a:ln>
            <a:noFill/>
          </a:ln>
        </p:spPr>
        <p:txBody>
          <a:bodyPr spcFirstLastPara="1" wrap="square" lIns="34275" tIns="34275" rIns="34275" bIns="34275" anchor="t" anchorCtr="0">
            <a:noAutofit/>
          </a:bodyPr>
          <a:lstStyle>
            <a:lvl1pPr marL="457200" marR="0" lvl="0"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1pPr>
            <a:lvl2pPr marL="914400" marR="0" lvl="1"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2pPr>
            <a:lvl3pPr marL="1371600" marR="0" lvl="2"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3pPr>
            <a:lvl4pPr marL="1828800" marR="0" lvl="3"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4pPr>
            <a:lvl5pPr marL="2286000" marR="0" lvl="4"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26" name="Google Shape;126;p38"/>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Photo - Horizontal" type="tx">
  <p:cSld name="TITLE_AND_BODY">
    <p:spTree>
      <p:nvGrpSpPr>
        <p:cNvPr id="1" name="Shape 127"/>
        <p:cNvGrpSpPr/>
        <p:nvPr/>
      </p:nvGrpSpPr>
      <p:grpSpPr>
        <a:xfrm>
          <a:off x="0" y="0"/>
          <a:ext cx="0" cy="0"/>
          <a:chOff x="0" y="0"/>
          <a:chExt cx="0" cy="0"/>
        </a:xfrm>
      </p:grpSpPr>
      <p:sp>
        <p:nvSpPr>
          <p:cNvPr id="128" name="Google Shape;128;p39"/>
          <p:cNvSpPr>
            <a:spLocks noGrp="1"/>
          </p:cNvSpPr>
          <p:nvPr>
            <p:ph type="pic" idx="2"/>
          </p:nvPr>
        </p:nvSpPr>
        <p:spPr>
          <a:xfrm>
            <a:off x="1691673" y="654843"/>
            <a:ext cx="4383300" cy="61032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29" name="Google Shape;129;p39"/>
          <p:cNvSpPr txBox="1">
            <a:spLocks noGrp="1"/>
          </p:cNvSpPr>
          <p:nvPr>
            <p:ph type="title"/>
          </p:nvPr>
        </p:nvSpPr>
        <p:spPr>
          <a:xfrm>
            <a:off x="1540817" y="6928247"/>
            <a:ext cx="4690800" cy="1466700"/>
          </a:xfrm>
          <a:prstGeom prst="rect">
            <a:avLst/>
          </a:prstGeom>
          <a:noFill/>
          <a:ln>
            <a:noFill/>
          </a:ln>
        </p:spPr>
        <p:txBody>
          <a:bodyPr spcFirstLastPara="1" wrap="square" lIns="34275" tIns="34275" rIns="34275" bIns="34275" anchor="b"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30" name="Google Shape;130;p39"/>
          <p:cNvSpPr txBox="1">
            <a:spLocks noGrp="1"/>
          </p:cNvSpPr>
          <p:nvPr>
            <p:ph type="body" idx="1"/>
          </p:nvPr>
        </p:nvSpPr>
        <p:spPr>
          <a:xfrm>
            <a:off x="1540817" y="8447484"/>
            <a:ext cx="4690800" cy="1165800"/>
          </a:xfrm>
          <a:prstGeom prst="rect">
            <a:avLst/>
          </a:prstGeom>
          <a:noFill/>
          <a:ln>
            <a:noFill/>
          </a:ln>
        </p:spPr>
        <p:txBody>
          <a:bodyPr spcFirstLastPara="1" wrap="square" lIns="34275" tIns="34275" rIns="34275" bIns="34275" anchor="t" anchorCtr="0">
            <a:noAutofit/>
          </a:bodyPr>
          <a:lstStyle>
            <a:lvl1pPr marL="457200" marR="0" lvl="0"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1pPr>
            <a:lvl2pPr marL="914400" marR="0" lvl="1"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2pPr>
            <a:lvl3pPr marL="1371600" marR="0" lvl="2"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3pPr>
            <a:lvl4pPr marL="1828800" marR="0" lvl="3"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4pPr>
            <a:lvl5pPr marL="2286000" marR="0" lvl="4"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31" name="Google Shape;131;p39"/>
          <p:cNvSpPr txBox="1">
            <a:spLocks noGrp="1"/>
          </p:cNvSpPr>
          <p:nvPr>
            <p:ph type="sldNum" idx="12"/>
          </p:nvPr>
        </p:nvSpPr>
        <p:spPr>
          <a:xfrm>
            <a:off x="3804541" y="9534525"/>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 Center">
  <p:cSld name="Title - Center">
    <p:spTree>
      <p:nvGrpSpPr>
        <p:cNvPr id="1" name="Shape 132"/>
        <p:cNvGrpSpPr/>
        <p:nvPr/>
      </p:nvGrpSpPr>
      <p:grpSpPr>
        <a:xfrm>
          <a:off x="0" y="0"/>
          <a:ext cx="0" cy="0"/>
          <a:chOff x="0" y="0"/>
          <a:chExt cx="0" cy="0"/>
        </a:xfrm>
      </p:grpSpPr>
      <p:sp>
        <p:nvSpPr>
          <p:cNvPr id="133" name="Google Shape;133;p40"/>
          <p:cNvSpPr txBox="1">
            <a:spLocks noGrp="1"/>
          </p:cNvSpPr>
          <p:nvPr>
            <p:ph type="title"/>
          </p:nvPr>
        </p:nvSpPr>
        <p:spPr>
          <a:xfrm>
            <a:off x="1540817" y="3326606"/>
            <a:ext cx="4690800" cy="34050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34" name="Google Shape;134;p40"/>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Photo - Vertical">
  <p:cSld name="Photo - Vertical">
    <p:spTree>
      <p:nvGrpSpPr>
        <p:cNvPr id="1" name="Shape 135"/>
        <p:cNvGrpSpPr/>
        <p:nvPr/>
      </p:nvGrpSpPr>
      <p:grpSpPr>
        <a:xfrm>
          <a:off x="0" y="0"/>
          <a:ext cx="0" cy="0"/>
          <a:chOff x="0" y="0"/>
          <a:chExt cx="0" cy="0"/>
        </a:xfrm>
      </p:grpSpPr>
      <p:sp>
        <p:nvSpPr>
          <p:cNvPr id="136" name="Google Shape;136;p41"/>
          <p:cNvSpPr>
            <a:spLocks noGrp="1"/>
          </p:cNvSpPr>
          <p:nvPr>
            <p:ph type="pic" idx="2"/>
          </p:nvPr>
        </p:nvSpPr>
        <p:spPr>
          <a:xfrm>
            <a:off x="3982975" y="654843"/>
            <a:ext cx="2391000" cy="84867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37" name="Google Shape;137;p41"/>
          <p:cNvSpPr txBox="1">
            <a:spLocks noGrp="1"/>
          </p:cNvSpPr>
          <p:nvPr>
            <p:ph type="title"/>
          </p:nvPr>
        </p:nvSpPr>
        <p:spPr>
          <a:xfrm>
            <a:off x="1398501" y="654843"/>
            <a:ext cx="2391000" cy="4112400"/>
          </a:xfrm>
          <a:prstGeom prst="rect">
            <a:avLst/>
          </a:prstGeom>
          <a:noFill/>
          <a:ln>
            <a:noFill/>
          </a:ln>
        </p:spPr>
        <p:txBody>
          <a:bodyPr spcFirstLastPara="1" wrap="square" lIns="34275" tIns="34275" rIns="34275" bIns="34275" anchor="b" anchorCtr="0">
            <a:noAutofit/>
          </a:bodyPr>
          <a:lstStyle>
            <a:lvl1pPr marL="0" marR="0" lvl="0" indent="0" algn="ctr" rtl="0">
              <a:lnSpc>
                <a:spcPct val="100000"/>
              </a:lnSpc>
              <a:spcBef>
                <a:spcPts val="0"/>
              </a:spcBef>
              <a:spcAft>
                <a:spcPts val="0"/>
              </a:spcAft>
              <a:buClr>
                <a:srgbClr val="000000"/>
              </a:buClr>
              <a:buSzPts val="500"/>
              <a:buFont typeface="Helvetica Neue"/>
              <a:buNone/>
              <a:defRPr sz="3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38" name="Google Shape;138;p41"/>
          <p:cNvSpPr txBox="1">
            <a:spLocks noGrp="1"/>
          </p:cNvSpPr>
          <p:nvPr>
            <p:ph type="body" idx="1"/>
          </p:nvPr>
        </p:nvSpPr>
        <p:spPr>
          <a:xfrm>
            <a:off x="1398501" y="4911328"/>
            <a:ext cx="2391000" cy="4230600"/>
          </a:xfrm>
          <a:prstGeom prst="rect">
            <a:avLst/>
          </a:prstGeom>
          <a:noFill/>
          <a:ln>
            <a:noFill/>
          </a:ln>
        </p:spPr>
        <p:txBody>
          <a:bodyPr spcFirstLastPara="1" wrap="square" lIns="34275" tIns="34275" rIns="34275" bIns="34275" anchor="t" anchorCtr="0">
            <a:noAutofit/>
          </a:bodyPr>
          <a:lstStyle>
            <a:lvl1pPr marL="457200" marR="0" lvl="0"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1pPr>
            <a:lvl2pPr marL="914400" marR="0" lvl="1"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2pPr>
            <a:lvl3pPr marL="1371600" marR="0" lvl="2"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3pPr>
            <a:lvl4pPr marL="1828800" marR="0" lvl="3"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4pPr>
            <a:lvl5pPr marL="2286000" marR="0" lvl="4"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39" name="Google Shape;139;p41"/>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 Top">
  <p:cSld name="Title - Top">
    <p:spTree>
      <p:nvGrpSpPr>
        <p:cNvPr id="1" name="Shape 140"/>
        <p:cNvGrpSpPr/>
        <p:nvPr/>
      </p:nvGrpSpPr>
      <p:grpSpPr>
        <a:xfrm>
          <a:off x="0" y="0"/>
          <a:ext cx="0" cy="0"/>
          <a:chOff x="0" y="0"/>
          <a:chExt cx="0" cy="0"/>
        </a:xfrm>
      </p:grpSpPr>
      <p:sp>
        <p:nvSpPr>
          <p:cNvPr id="141" name="Google Shape;141;p42"/>
          <p:cNvSpPr txBox="1">
            <a:spLocks noGrp="1"/>
          </p:cNvSpPr>
          <p:nvPr>
            <p:ph type="title"/>
          </p:nvPr>
        </p:nvSpPr>
        <p:spPr>
          <a:xfrm>
            <a:off x="1398501" y="458391"/>
            <a:ext cx="4975200" cy="22263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42" name="Google Shape;142;p42"/>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mp; Bullets">
  <p:cSld name="Title &amp; Bullets">
    <p:spTree>
      <p:nvGrpSpPr>
        <p:cNvPr id="1" name="Shape 143"/>
        <p:cNvGrpSpPr/>
        <p:nvPr/>
      </p:nvGrpSpPr>
      <p:grpSpPr>
        <a:xfrm>
          <a:off x="0" y="0"/>
          <a:ext cx="0" cy="0"/>
          <a:chOff x="0" y="0"/>
          <a:chExt cx="0" cy="0"/>
        </a:xfrm>
      </p:grpSpPr>
      <p:sp>
        <p:nvSpPr>
          <p:cNvPr id="144" name="Google Shape;144;p43"/>
          <p:cNvSpPr txBox="1">
            <a:spLocks noGrp="1"/>
          </p:cNvSpPr>
          <p:nvPr>
            <p:ph type="title"/>
          </p:nvPr>
        </p:nvSpPr>
        <p:spPr>
          <a:xfrm>
            <a:off x="1398501" y="458391"/>
            <a:ext cx="4975200" cy="22263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45" name="Google Shape;145;p43"/>
          <p:cNvSpPr txBox="1">
            <a:spLocks noGrp="1"/>
          </p:cNvSpPr>
          <p:nvPr>
            <p:ph type="body" idx="1"/>
          </p:nvPr>
        </p:nvSpPr>
        <p:spPr>
          <a:xfrm>
            <a:off x="1398501" y="2684859"/>
            <a:ext cx="4975200" cy="6482700"/>
          </a:xfrm>
          <a:prstGeom prst="rect">
            <a:avLst/>
          </a:prstGeom>
          <a:noFill/>
          <a:ln>
            <a:noFill/>
          </a:ln>
        </p:spPr>
        <p:txBody>
          <a:bodyPr spcFirstLastPara="1" wrap="square" lIns="34275" tIns="34275" rIns="34275" bIns="34275" anchor="ctr" anchorCtr="0">
            <a:noAutofit/>
          </a:bodyPr>
          <a:lstStyle>
            <a:lvl1pPr marL="457200" marR="0" lvl="0"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914400" marR="0" lvl="1"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1371600" marR="0" lvl="2"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1828800" marR="0" lvl="3"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2286000" marR="0" lvl="4"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46" name="Google Shape;146;p43"/>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Bullets &amp; Photo">
  <p:cSld name="Title, Bullets &amp; Photo">
    <p:spTree>
      <p:nvGrpSpPr>
        <p:cNvPr id="1" name="Shape 147"/>
        <p:cNvGrpSpPr/>
        <p:nvPr/>
      </p:nvGrpSpPr>
      <p:grpSpPr>
        <a:xfrm>
          <a:off x="0" y="0"/>
          <a:ext cx="0" cy="0"/>
          <a:chOff x="0" y="0"/>
          <a:chExt cx="0" cy="0"/>
        </a:xfrm>
      </p:grpSpPr>
      <p:sp>
        <p:nvSpPr>
          <p:cNvPr id="148" name="Google Shape;148;p44"/>
          <p:cNvSpPr>
            <a:spLocks noGrp="1"/>
          </p:cNvSpPr>
          <p:nvPr>
            <p:ph type="pic" idx="2"/>
          </p:nvPr>
        </p:nvSpPr>
        <p:spPr>
          <a:xfrm>
            <a:off x="3982975" y="2684859"/>
            <a:ext cx="2391000" cy="64827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49" name="Google Shape;149;p44"/>
          <p:cNvSpPr txBox="1">
            <a:spLocks noGrp="1"/>
          </p:cNvSpPr>
          <p:nvPr>
            <p:ph type="title"/>
          </p:nvPr>
        </p:nvSpPr>
        <p:spPr>
          <a:xfrm>
            <a:off x="1398501" y="458391"/>
            <a:ext cx="4975200" cy="22263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50" name="Google Shape;150;p44"/>
          <p:cNvSpPr txBox="1">
            <a:spLocks noGrp="1"/>
          </p:cNvSpPr>
          <p:nvPr>
            <p:ph type="body" idx="1"/>
          </p:nvPr>
        </p:nvSpPr>
        <p:spPr>
          <a:xfrm>
            <a:off x="1398501" y="2684859"/>
            <a:ext cx="2391000" cy="6482700"/>
          </a:xfrm>
          <a:prstGeom prst="rect">
            <a:avLst/>
          </a:prstGeom>
          <a:noFill/>
          <a:ln>
            <a:noFill/>
          </a:ln>
        </p:spPr>
        <p:txBody>
          <a:bodyPr spcFirstLastPara="1" wrap="square" lIns="34275" tIns="34275" rIns="34275" bIns="34275" anchor="ctr" anchorCtr="0">
            <a:noAutofit/>
          </a:bodyPr>
          <a:lstStyle>
            <a:lvl1pPr marL="457200" marR="0" lvl="0" indent="-298450" algn="l" rtl="0">
              <a:lnSpc>
                <a:spcPct val="100000"/>
              </a:lnSpc>
              <a:spcBef>
                <a:spcPts val="1700"/>
              </a:spcBef>
              <a:spcAft>
                <a:spcPts val="0"/>
              </a:spcAft>
              <a:buClr>
                <a:srgbClr val="000000"/>
              </a:buClr>
              <a:buSzPts val="1100"/>
              <a:buFont typeface="Helvetica Neue"/>
              <a:buChar char="•"/>
              <a:defRPr sz="1400" b="0" i="0" u="none" strike="noStrike" cap="none">
                <a:solidFill>
                  <a:srgbClr val="000000"/>
                </a:solidFill>
                <a:latin typeface="Helvetica Neue"/>
                <a:ea typeface="Helvetica Neue"/>
                <a:cs typeface="Helvetica Neue"/>
                <a:sym typeface="Helvetica Neue"/>
              </a:defRPr>
            </a:lvl1pPr>
            <a:lvl2pPr marL="914400" marR="0" lvl="1" indent="-298450" algn="l" rtl="0">
              <a:lnSpc>
                <a:spcPct val="100000"/>
              </a:lnSpc>
              <a:spcBef>
                <a:spcPts val="1700"/>
              </a:spcBef>
              <a:spcAft>
                <a:spcPts val="0"/>
              </a:spcAft>
              <a:buClr>
                <a:srgbClr val="000000"/>
              </a:buClr>
              <a:buSzPts val="1100"/>
              <a:buFont typeface="Helvetica Neue"/>
              <a:buChar char="•"/>
              <a:defRPr sz="1400" b="0" i="0" u="none" strike="noStrike" cap="none">
                <a:solidFill>
                  <a:srgbClr val="000000"/>
                </a:solidFill>
                <a:latin typeface="Helvetica Neue"/>
                <a:ea typeface="Helvetica Neue"/>
                <a:cs typeface="Helvetica Neue"/>
                <a:sym typeface="Helvetica Neue"/>
              </a:defRPr>
            </a:lvl2pPr>
            <a:lvl3pPr marL="1371600" marR="0" lvl="2" indent="-298450" algn="l" rtl="0">
              <a:lnSpc>
                <a:spcPct val="100000"/>
              </a:lnSpc>
              <a:spcBef>
                <a:spcPts val="1700"/>
              </a:spcBef>
              <a:spcAft>
                <a:spcPts val="0"/>
              </a:spcAft>
              <a:buClr>
                <a:srgbClr val="000000"/>
              </a:buClr>
              <a:buSzPts val="1100"/>
              <a:buFont typeface="Helvetica Neue"/>
              <a:buChar char="•"/>
              <a:defRPr sz="1400" b="0" i="0" u="none" strike="noStrike" cap="none">
                <a:solidFill>
                  <a:srgbClr val="000000"/>
                </a:solidFill>
                <a:latin typeface="Helvetica Neue"/>
                <a:ea typeface="Helvetica Neue"/>
                <a:cs typeface="Helvetica Neue"/>
                <a:sym typeface="Helvetica Neue"/>
              </a:defRPr>
            </a:lvl3pPr>
            <a:lvl4pPr marL="1828800" marR="0" lvl="3" indent="-298450" algn="l" rtl="0">
              <a:lnSpc>
                <a:spcPct val="100000"/>
              </a:lnSpc>
              <a:spcBef>
                <a:spcPts val="1700"/>
              </a:spcBef>
              <a:spcAft>
                <a:spcPts val="0"/>
              </a:spcAft>
              <a:buClr>
                <a:srgbClr val="000000"/>
              </a:buClr>
              <a:buSzPts val="1100"/>
              <a:buFont typeface="Helvetica Neue"/>
              <a:buChar char="•"/>
              <a:defRPr sz="1400" b="0" i="0" u="none" strike="noStrike" cap="none">
                <a:solidFill>
                  <a:srgbClr val="000000"/>
                </a:solidFill>
                <a:latin typeface="Helvetica Neue"/>
                <a:ea typeface="Helvetica Neue"/>
                <a:cs typeface="Helvetica Neue"/>
                <a:sym typeface="Helvetica Neue"/>
              </a:defRPr>
            </a:lvl4pPr>
            <a:lvl5pPr marL="2286000" marR="0" lvl="4" indent="-298450" algn="l" rtl="0">
              <a:lnSpc>
                <a:spcPct val="100000"/>
              </a:lnSpc>
              <a:spcBef>
                <a:spcPts val="1700"/>
              </a:spcBef>
              <a:spcAft>
                <a:spcPts val="0"/>
              </a:spcAft>
              <a:buClr>
                <a:srgbClr val="000000"/>
              </a:buClr>
              <a:buSzPts val="1100"/>
              <a:buFont typeface="Helvetica Neue"/>
              <a:buChar char="•"/>
              <a:defRPr sz="14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51" name="Google Shape;151;p44"/>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Bullets">
  <p:cSld name="Bullets">
    <p:spTree>
      <p:nvGrpSpPr>
        <p:cNvPr id="1" name="Shape 152"/>
        <p:cNvGrpSpPr/>
        <p:nvPr/>
      </p:nvGrpSpPr>
      <p:grpSpPr>
        <a:xfrm>
          <a:off x="0" y="0"/>
          <a:ext cx="0" cy="0"/>
          <a:chOff x="0" y="0"/>
          <a:chExt cx="0" cy="0"/>
        </a:xfrm>
      </p:grpSpPr>
      <p:sp>
        <p:nvSpPr>
          <p:cNvPr id="153" name="Google Shape;153;p45"/>
          <p:cNvSpPr txBox="1">
            <a:spLocks noGrp="1"/>
          </p:cNvSpPr>
          <p:nvPr>
            <p:ph type="body" idx="1"/>
          </p:nvPr>
        </p:nvSpPr>
        <p:spPr>
          <a:xfrm>
            <a:off x="1398501" y="1309687"/>
            <a:ext cx="4975200" cy="7438800"/>
          </a:xfrm>
          <a:prstGeom prst="rect">
            <a:avLst/>
          </a:prstGeom>
          <a:noFill/>
          <a:ln>
            <a:noFill/>
          </a:ln>
        </p:spPr>
        <p:txBody>
          <a:bodyPr spcFirstLastPara="1" wrap="square" lIns="34275" tIns="34275" rIns="34275" bIns="34275" anchor="ctr" anchorCtr="0">
            <a:noAutofit/>
          </a:bodyPr>
          <a:lstStyle>
            <a:lvl1pPr marL="457200" marR="0" lvl="0"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914400" marR="0" lvl="1"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1371600" marR="0" lvl="2"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1828800" marR="0" lvl="3"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2286000" marR="0" lvl="4"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54" name="Google Shape;154;p45"/>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Photo - 3 Up">
  <p:cSld name="Photo - 3 Up">
    <p:spTree>
      <p:nvGrpSpPr>
        <p:cNvPr id="1" name="Shape 155"/>
        <p:cNvGrpSpPr/>
        <p:nvPr/>
      </p:nvGrpSpPr>
      <p:grpSpPr>
        <a:xfrm>
          <a:off x="0" y="0"/>
          <a:ext cx="0" cy="0"/>
          <a:chOff x="0" y="0"/>
          <a:chExt cx="0" cy="0"/>
        </a:xfrm>
      </p:grpSpPr>
      <p:sp>
        <p:nvSpPr>
          <p:cNvPr id="156" name="Google Shape;156;p46"/>
          <p:cNvSpPr>
            <a:spLocks noGrp="1"/>
          </p:cNvSpPr>
          <p:nvPr>
            <p:ph type="pic" idx="2"/>
          </p:nvPr>
        </p:nvSpPr>
        <p:spPr>
          <a:xfrm>
            <a:off x="3982975" y="5251847"/>
            <a:ext cx="2391000" cy="38895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57" name="Google Shape;157;p46"/>
          <p:cNvSpPr>
            <a:spLocks noGrp="1"/>
          </p:cNvSpPr>
          <p:nvPr>
            <p:ph type="pic" idx="3"/>
          </p:nvPr>
        </p:nvSpPr>
        <p:spPr>
          <a:xfrm>
            <a:off x="3985763" y="916781"/>
            <a:ext cx="2391000" cy="38895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58" name="Google Shape;158;p46"/>
          <p:cNvSpPr>
            <a:spLocks noGrp="1"/>
          </p:cNvSpPr>
          <p:nvPr>
            <p:ph type="pic" idx="4"/>
          </p:nvPr>
        </p:nvSpPr>
        <p:spPr>
          <a:xfrm>
            <a:off x="1398501" y="916781"/>
            <a:ext cx="2391000" cy="82251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59" name="Google Shape;159;p46"/>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60"/>
        <p:cNvGrpSpPr/>
        <p:nvPr/>
      </p:nvGrpSpPr>
      <p:grpSpPr>
        <a:xfrm>
          <a:off x="0" y="0"/>
          <a:ext cx="0" cy="0"/>
          <a:chOff x="0" y="0"/>
          <a:chExt cx="0" cy="0"/>
        </a:xfrm>
      </p:grpSpPr>
      <p:sp>
        <p:nvSpPr>
          <p:cNvPr id="161" name="Google Shape;161;p47"/>
          <p:cNvSpPr txBox="1">
            <a:spLocks noGrp="1"/>
          </p:cNvSpPr>
          <p:nvPr>
            <p:ph type="body" idx="1"/>
          </p:nvPr>
        </p:nvSpPr>
        <p:spPr>
          <a:xfrm>
            <a:off x="1540817" y="6561534"/>
            <a:ext cx="4690800" cy="484500"/>
          </a:xfrm>
          <a:prstGeom prst="rect">
            <a:avLst/>
          </a:prstGeom>
          <a:noFill/>
          <a:ln>
            <a:noFill/>
          </a:ln>
        </p:spPr>
        <p:txBody>
          <a:bodyPr spcFirstLastPara="1" wrap="square" lIns="34275" tIns="34275" rIns="34275" bIns="34275" anchor="t" anchorCtr="0">
            <a:noAutofit/>
          </a:bodyPr>
          <a:lstStyle>
            <a:lvl1pPr marL="457200" marR="0" lvl="0" indent="-228600" algn="ctr" rtl="0">
              <a:lnSpc>
                <a:spcPct val="100000"/>
              </a:lnSpc>
              <a:spcBef>
                <a:spcPts val="0"/>
              </a:spcBef>
              <a:spcAft>
                <a:spcPts val="0"/>
              </a:spcAft>
              <a:buClr>
                <a:srgbClr val="000000"/>
              </a:buClr>
              <a:buSzPts val="1400"/>
              <a:buFont typeface="Helvetica Neue"/>
              <a:buNone/>
              <a:defRPr sz="1200" b="0" i="0" u="none" strike="noStrike" cap="none">
                <a:solidFill>
                  <a:srgbClr val="000000"/>
                </a:solidFill>
                <a:latin typeface="Helvetica Neue"/>
                <a:ea typeface="Helvetica Neue"/>
                <a:cs typeface="Helvetica Neue"/>
                <a:sym typeface="Helvetica Neue"/>
              </a:defRPr>
            </a:lvl1pPr>
            <a:lvl2pPr marL="914400" marR="0" lvl="1"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1371600" marR="0" lvl="2"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1828800" marR="0" lvl="3"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2286000" marR="0" lvl="4"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62" name="Google Shape;162;p47"/>
          <p:cNvSpPr txBox="1">
            <a:spLocks noGrp="1"/>
          </p:cNvSpPr>
          <p:nvPr>
            <p:ph type="body" idx="2"/>
          </p:nvPr>
        </p:nvSpPr>
        <p:spPr>
          <a:xfrm>
            <a:off x="1540817" y="4400259"/>
            <a:ext cx="4690800" cy="708000"/>
          </a:xfrm>
          <a:prstGeom prst="rect">
            <a:avLst/>
          </a:prstGeom>
          <a:noFill/>
          <a:ln>
            <a:noFill/>
          </a:ln>
        </p:spPr>
        <p:txBody>
          <a:bodyPr spcFirstLastPara="1" wrap="square" lIns="34275" tIns="34275" rIns="34275" bIns="34275" anchor="ctr" anchorCtr="0">
            <a:noAutofit/>
          </a:bodyPr>
          <a:lstStyle>
            <a:lvl1pPr marL="457200" marR="0" lvl="0" indent="-228600" algn="ctr" rtl="0">
              <a:lnSpc>
                <a:spcPct val="100000"/>
              </a:lnSpc>
              <a:spcBef>
                <a:spcPts val="0"/>
              </a:spcBef>
              <a:spcAft>
                <a:spcPts val="0"/>
              </a:spcAft>
              <a:buClr>
                <a:srgbClr val="000000"/>
              </a:buClr>
              <a:buSzPts val="1400"/>
              <a:buFont typeface="Helvetica Neue"/>
              <a:buNone/>
              <a:defRPr sz="2000" b="0" i="0" u="none" strike="noStrike" cap="none">
                <a:solidFill>
                  <a:srgbClr val="000000"/>
                </a:solidFill>
                <a:latin typeface="Helvetica Neue"/>
                <a:ea typeface="Helvetica Neue"/>
                <a:cs typeface="Helvetica Neue"/>
                <a:sym typeface="Helvetica Neue"/>
              </a:defRPr>
            </a:lvl1pPr>
            <a:lvl2pPr marL="914400" marR="0" lvl="1"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1371600" marR="0" lvl="2"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1828800" marR="0" lvl="3"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2286000" marR="0" lvl="4"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63" name="Google Shape;163;p47"/>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Photo">
  <p:cSld name="Photo">
    <p:spTree>
      <p:nvGrpSpPr>
        <p:cNvPr id="1" name="Shape 164"/>
        <p:cNvGrpSpPr/>
        <p:nvPr/>
      </p:nvGrpSpPr>
      <p:grpSpPr>
        <a:xfrm>
          <a:off x="0" y="0"/>
          <a:ext cx="0" cy="0"/>
          <a:chOff x="0" y="0"/>
          <a:chExt cx="0" cy="0"/>
        </a:xfrm>
      </p:grpSpPr>
      <p:sp>
        <p:nvSpPr>
          <p:cNvPr id="165" name="Google Shape;165;p48"/>
          <p:cNvSpPr>
            <a:spLocks noGrp="1"/>
          </p:cNvSpPr>
          <p:nvPr>
            <p:ph type="pic" idx="2"/>
          </p:nvPr>
        </p:nvSpPr>
        <p:spPr>
          <a:xfrm>
            <a:off x="971550" y="0"/>
            <a:ext cx="5829300" cy="100584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66" name="Google Shape;166;p48"/>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167"/>
        <p:cNvGrpSpPr/>
        <p:nvPr/>
      </p:nvGrpSpPr>
      <p:grpSpPr>
        <a:xfrm>
          <a:off x="0" y="0"/>
          <a:ext cx="0" cy="0"/>
          <a:chOff x="0" y="0"/>
          <a:chExt cx="0" cy="0"/>
        </a:xfrm>
      </p:grpSpPr>
      <p:sp>
        <p:nvSpPr>
          <p:cNvPr id="168" name="Google Shape;168;p49"/>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_AND_BODY_1">
  <p:cSld name="TITLE_AND_BODY_1">
    <p:spTree>
      <p:nvGrpSpPr>
        <p:cNvPr id="1" name="Shape 169"/>
        <p:cNvGrpSpPr/>
        <p:nvPr/>
      </p:nvGrpSpPr>
      <p:grpSpPr>
        <a:xfrm>
          <a:off x="0" y="0"/>
          <a:ext cx="0" cy="0"/>
          <a:chOff x="0" y="0"/>
          <a:chExt cx="0" cy="0"/>
        </a:xfrm>
      </p:grpSpPr>
      <p:sp>
        <p:nvSpPr>
          <p:cNvPr id="170" name="Google Shape;170;p50"/>
          <p:cNvSpPr txBox="1">
            <a:spLocks noGrp="1"/>
          </p:cNvSpPr>
          <p:nvPr>
            <p:ph type="title"/>
          </p:nvPr>
        </p:nvSpPr>
        <p:spPr>
          <a:xfrm>
            <a:off x="264945" y="870271"/>
            <a:ext cx="7242600" cy="1119900"/>
          </a:xfrm>
          <a:prstGeom prst="rect">
            <a:avLst/>
          </a:prstGeom>
        </p:spPr>
        <p:txBody>
          <a:bodyPr spcFirstLastPara="1" wrap="square" lIns="34275" tIns="34275" rIns="34275" bIns="34275" anchor="ctr" anchorCtr="0">
            <a:noAutofit/>
          </a:bodyPr>
          <a:lstStyle>
            <a:lvl1pPr lvl="0" rtl="0">
              <a:spcBef>
                <a:spcPts val="0"/>
              </a:spcBef>
              <a:spcAft>
                <a:spcPts val="0"/>
              </a:spcAft>
              <a:buSzPts val="500"/>
              <a:buNone/>
              <a:defRPr/>
            </a:lvl1pPr>
            <a:lvl2pPr lvl="1" rtl="0">
              <a:spcBef>
                <a:spcPts val="0"/>
              </a:spcBef>
              <a:spcAft>
                <a:spcPts val="0"/>
              </a:spcAft>
              <a:buSzPts val="500"/>
              <a:buNone/>
              <a:defRPr/>
            </a:lvl2pPr>
            <a:lvl3pPr lvl="2" rtl="0">
              <a:spcBef>
                <a:spcPts val="0"/>
              </a:spcBef>
              <a:spcAft>
                <a:spcPts val="0"/>
              </a:spcAft>
              <a:buSzPts val="500"/>
              <a:buNone/>
              <a:defRPr/>
            </a:lvl3pPr>
            <a:lvl4pPr lvl="3" rtl="0">
              <a:spcBef>
                <a:spcPts val="0"/>
              </a:spcBef>
              <a:spcAft>
                <a:spcPts val="0"/>
              </a:spcAft>
              <a:buSzPts val="500"/>
              <a:buNone/>
              <a:defRPr/>
            </a:lvl4pPr>
            <a:lvl5pPr lvl="4" rtl="0">
              <a:spcBef>
                <a:spcPts val="0"/>
              </a:spcBef>
              <a:spcAft>
                <a:spcPts val="0"/>
              </a:spcAft>
              <a:buSzPts val="500"/>
              <a:buNone/>
              <a:defRPr/>
            </a:lvl5pPr>
            <a:lvl6pPr lvl="5" rtl="0">
              <a:spcBef>
                <a:spcPts val="0"/>
              </a:spcBef>
              <a:spcAft>
                <a:spcPts val="0"/>
              </a:spcAft>
              <a:buSzPts val="500"/>
              <a:buNone/>
              <a:defRPr/>
            </a:lvl6pPr>
            <a:lvl7pPr lvl="6" rtl="0">
              <a:spcBef>
                <a:spcPts val="0"/>
              </a:spcBef>
              <a:spcAft>
                <a:spcPts val="0"/>
              </a:spcAft>
              <a:buSzPts val="500"/>
              <a:buNone/>
              <a:defRPr/>
            </a:lvl7pPr>
            <a:lvl8pPr lvl="7" rtl="0">
              <a:spcBef>
                <a:spcPts val="0"/>
              </a:spcBef>
              <a:spcAft>
                <a:spcPts val="0"/>
              </a:spcAft>
              <a:buSzPts val="500"/>
              <a:buNone/>
              <a:defRPr/>
            </a:lvl8pPr>
            <a:lvl9pPr lvl="8" rtl="0">
              <a:spcBef>
                <a:spcPts val="0"/>
              </a:spcBef>
              <a:spcAft>
                <a:spcPts val="0"/>
              </a:spcAft>
              <a:buSzPts val="500"/>
              <a:buNone/>
              <a:defRPr/>
            </a:lvl9pPr>
          </a:lstStyle>
          <a:p>
            <a:endParaRPr/>
          </a:p>
        </p:txBody>
      </p:sp>
      <p:sp>
        <p:nvSpPr>
          <p:cNvPr id="171" name="Google Shape;171;p50"/>
          <p:cNvSpPr txBox="1">
            <a:spLocks noGrp="1"/>
          </p:cNvSpPr>
          <p:nvPr>
            <p:ph type="body" idx="1"/>
          </p:nvPr>
        </p:nvSpPr>
        <p:spPr>
          <a:xfrm>
            <a:off x="264945" y="2253729"/>
            <a:ext cx="7242600" cy="6239700"/>
          </a:xfrm>
          <a:prstGeom prst="rect">
            <a:avLst/>
          </a:prstGeom>
        </p:spPr>
        <p:txBody>
          <a:bodyPr spcFirstLastPara="1" wrap="square" lIns="34275" tIns="34275" rIns="34275" bIns="34275" anchor="ctr" anchorCtr="0">
            <a:noAutofit/>
          </a:bodyPr>
          <a:lstStyle>
            <a:lvl1pPr marL="457200" lvl="0" indent="-317500" rtl="0">
              <a:spcBef>
                <a:spcPts val="2200"/>
              </a:spcBef>
              <a:spcAft>
                <a:spcPts val="0"/>
              </a:spcAft>
              <a:buSzPts val="1400"/>
              <a:buChar char="•"/>
              <a:defRPr/>
            </a:lvl1pPr>
            <a:lvl2pPr marL="914400" lvl="1" indent="-317500" rtl="0">
              <a:spcBef>
                <a:spcPts val="2200"/>
              </a:spcBef>
              <a:spcAft>
                <a:spcPts val="0"/>
              </a:spcAft>
              <a:buSzPts val="1400"/>
              <a:buChar char="•"/>
              <a:defRPr/>
            </a:lvl2pPr>
            <a:lvl3pPr marL="1371600" lvl="2" indent="-317500" rtl="0">
              <a:spcBef>
                <a:spcPts val="2200"/>
              </a:spcBef>
              <a:spcAft>
                <a:spcPts val="0"/>
              </a:spcAft>
              <a:buSzPts val="1400"/>
              <a:buChar char="•"/>
              <a:defRPr/>
            </a:lvl3pPr>
            <a:lvl4pPr marL="1828800" lvl="3" indent="-317500" rtl="0">
              <a:spcBef>
                <a:spcPts val="2200"/>
              </a:spcBef>
              <a:spcAft>
                <a:spcPts val="0"/>
              </a:spcAft>
              <a:buSzPts val="1400"/>
              <a:buChar char="•"/>
              <a:defRPr/>
            </a:lvl4pPr>
            <a:lvl5pPr marL="2286000" lvl="4" indent="-317500" rtl="0">
              <a:spcBef>
                <a:spcPts val="2200"/>
              </a:spcBef>
              <a:spcAft>
                <a:spcPts val="0"/>
              </a:spcAft>
              <a:buSzPts val="1400"/>
              <a:buChar char="•"/>
              <a:defRPr/>
            </a:lvl5pPr>
            <a:lvl6pPr marL="2743200" lvl="5" indent="-317500" rtl="0">
              <a:spcBef>
                <a:spcPts val="2200"/>
              </a:spcBef>
              <a:spcAft>
                <a:spcPts val="0"/>
              </a:spcAft>
              <a:buSzPts val="1400"/>
              <a:buChar char="•"/>
              <a:defRPr/>
            </a:lvl6pPr>
            <a:lvl7pPr marL="3200400" lvl="6" indent="-317500" rtl="0">
              <a:spcBef>
                <a:spcPts val="2200"/>
              </a:spcBef>
              <a:spcAft>
                <a:spcPts val="0"/>
              </a:spcAft>
              <a:buSzPts val="1400"/>
              <a:buChar char="•"/>
              <a:defRPr/>
            </a:lvl7pPr>
            <a:lvl8pPr marL="3657600" lvl="7" indent="-317500" rtl="0">
              <a:spcBef>
                <a:spcPts val="2200"/>
              </a:spcBef>
              <a:spcAft>
                <a:spcPts val="0"/>
              </a:spcAft>
              <a:buSzPts val="1400"/>
              <a:buChar char="•"/>
              <a:defRPr/>
            </a:lvl8pPr>
            <a:lvl9pPr marL="4114800" lvl="8" indent="-317500" rtl="0">
              <a:spcBef>
                <a:spcPts val="2200"/>
              </a:spcBef>
              <a:spcAft>
                <a:spcPts val="0"/>
              </a:spcAft>
              <a:buSzPts val="14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52" name="Google Shape;52;p13"/>
          <p:cNvSpPr txBox="1">
            <a:spLocks noGrp="1"/>
          </p:cNvSpPr>
          <p:nvPr>
            <p:ph type="body" idx="1"/>
          </p:nvPr>
        </p:nvSpPr>
        <p:spPr>
          <a:xfrm>
            <a:off x="264945" y="2253729"/>
            <a:ext cx="7242600" cy="62397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marL="914400" lvl="1"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marL="1371600" lvl="2"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marL="1828800" lvl="3"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marL="2286000" lvl="4"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marL="2743200" lvl="5"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marL="3200400" lvl="6"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marL="3657600" lvl="7"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marL="4114800" lvl="8" indent="-317500" rtl="0">
              <a:lnSpc>
                <a:spcPct val="115000"/>
              </a:lnSpc>
              <a:spcBef>
                <a:spcPts val="1600"/>
              </a:spcBef>
              <a:spcAft>
                <a:spcPts val="1600"/>
              </a:spcAft>
              <a:buClr>
                <a:schemeClr val="dk2"/>
              </a:buClr>
              <a:buSzPts val="1400"/>
              <a:buFont typeface="Open Sans"/>
              <a:buChar char="■"/>
              <a:defRPr>
                <a:solidFill>
                  <a:schemeClr val="dk2"/>
                </a:solidFill>
                <a:latin typeface="Open Sans"/>
                <a:ea typeface="Open Sans"/>
                <a:cs typeface="Open Sans"/>
                <a:sym typeface="Open Sans"/>
              </a:defRPr>
            </a:lvl9pPr>
          </a:lstStyle>
          <a:p>
            <a:endParaRPr/>
          </a:p>
        </p:txBody>
      </p:sp>
      <p:sp>
        <p:nvSpPr>
          <p:cNvPr id="53" name="Google Shape;53;p13"/>
          <p:cNvSpPr/>
          <p:nvPr/>
        </p:nvSpPr>
        <p:spPr>
          <a:xfrm>
            <a:off x="-11" y="964431"/>
            <a:ext cx="32400" cy="931500"/>
          </a:xfrm>
          <a:prstGeom prst="rect">
            <a:avLst/>
          </a:prstGeom>
          <a:solidFill>
            <a:srgbClr val="02B4E5"/>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pic>
        <p:nvPicPr>
          <p:cNvPr id="54" name="Google Shape;54;p13"/>
          <p:cNvPicPr preferRelativeResize="0"/>
          <p:nvPr/>
        </p:nvPicPr>
        <p:blipFill>
          <a:blip r:embed="rId13">
            <a:alphaModFix/>
          </a:blip>
          <a:stretch>
            <a:fillRect/>
          </a:stretch>
        </p:blipFill>
        <p:spPr>
          <a:xfrm>
            <a:off x="6744176" y="8934689"/>
            <a:ext cx="808095" cy="27314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85"/>
        <p:cNvGrpSpPr/>
        <p:nvPr/>
      </p:nvGrpSpPr>
      <p:grpSpPr>
        <a:xfrm>
          <a:off x="0" y="0"/>
          <a:ext cx="0" cy="0"/>
          <a:chOff x="0" y="0"/>
          <a:chExt cx="0" cy="0"/>
        </a:xfrm>
      </p:grpSpPr>
      <p:sp>
        <p:nvSpPr>
          <p:cNvPr id="86" name="Google Shape;86;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rgbClr val="2E3D49"/>
              </a:buClr>
              <a:buSzPts val="4000"/>
              <a:buFont typeface="Open Sans"/>
              <a:buNone/>
              <a:defRPr sz="4000">
                <a:solidFill>
                  <a:srgbClr val="2E3D49"/>
                </a:solidFill>
                <a:latin typeface="Open Sans"/>
                <a:ea typeface="Open Sans"/>
                <a:cs typeface="Open Sans"/>
                <a:sym typeface="Open Sans"/>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87" name="Google Shape;87;p25"/>
          <p:cNvSpPr txBox="1">
            <a:spLocks noGrp="1"/>
          </p:cNvSpPr>
          <p:nvPr>
            <p:ph type="body" idx="1"/>
          </p:nvPr>
        </p:nvSpPr>
        <p:spPr>
          <a:xfrm>
            <a:off x="264945" y="2253729"/>
            <a:ext cx="7242600" cy="62397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dk2"/>
              </a:buClr>
              <a:buSzPts val="1800"/>
              <a:buFont typeface="Open Sans Light"/>
              <a:buChar char="●"/>
              <a:defRPr sz="1800">
                <a:solidFill>
                  <a:schemeClr val="dk2"/>
                </a:solidFill>
                <a:latin typeface="Open Sans Light"/>
                <a:ea typeface="Open Sans Light"/>
                <a:cs typeface="Open Sans Light"/>
                <a:sym typeface="Open Sans Light"/>
              </a:defRPr>
            </a:lvl1pPr>
            <a:lvl2pPr marL="914400" lvl="1"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2pPr>
            <a:lvl3pPr marL="1371600" lvl="2"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3pPr>
            <a:lvl4pPr marL="1828800" lvl="3"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4pPr>
            <a:lvl5pPr marL="2286000" lvl="4"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5pPr>
            <a:lvl6pPr marL="2743200" lvl="5"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6pPr>
            <a:lvl7pPr marL="3200400" lvl="6"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7pPr>
            <a:lvl8pPr marL="3657600" lvl="7"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8pPr>
            <a:lvl9pPr marL="4114800" lvl="8" indent="-317500" rtl="0">
              <a:lnSpc>
                <a:spcPct val="115000"/>
              </a:lnSpc>
              <a:spcBef>
                <a:spcPts val="1600"/>
              </a:spcBef>
              <a:spcAft>
                <a:spcPts val="160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9pPr>
          </a:lstStyle>
          <a:p>
            <a:endParaRPr/>
          </a:p>
        </p:txBody>
      </p:sp>
      <p:sp>
        <p:nvSpPr>
          <p:cNvPr id="88" name="Google Shape;88;p25"/>
          <p:cNvSpPr/>
          <p:nvPr/>
        </p:nvSpPr>
        <p:spPr>
          <a:xfrm>
            <a:off x="-11" y="964431"/>
            <a:ext cx="32400" cy="931500"/>
          </a:xfrm>
          <a:prstGeom prst="rect">
            <a:avLst/>
          </a:prstGeom>
          <a:solidFill>
            <a:srgbClr val="02B4E5"/>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Tree>
  </p:cSld>
  <p:clrMap bg1="lt1" tx1="dk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9"/>
        <p:cNvGrpSpPr/>
        <p:nvPr/>
      </p:nvGrpSpPr>
      <p:grpSpPr>
        <a:xfrm>
          <a:off x="0" y="0"/>
          <a:ext cx="0" cy="0"/>
          <a:chOff x="0" y="0"/>
          <a:chExt cx="0" cy="0"/>
        </a:xfrm>
      </p:grpSpPr>
      <p:sp>
        <p:nvSpPr>
          <p:cNvPr id="120" name="Google Shape;120;p37"/>
          <p:cNvSpPr txBox="1">
            <a:spLocks noGrp="1"/>
          </p:cNvSpPr>
          <p:nvPr>
            <p:ph type="title"/>
          </p:nvPr>
        </p:nvSpPr>
        <p:spPr>
          <a:xfrm>
            <a:off x="1398501" y="458391"/>
            <a:ext cx="4975200" cy="22263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21" name="Google Shape;121;p37"/>
          <p:cNvSpPr txBox="1">
            <a:spLocks noGrp="1"/>
          </p:cNvSpPr>
          <p:nvPr>
            <p:ph type="body" idx="1"/>
          </p:nvPr>
        </p:nvSpPr>
        <p:spPr>
          <a:xfrm>
            <a:off x="1398501" y="2684859"/>
            <a:ext cx="4975200" cy="6482700"/>
          </a:xfrm>
          <a:prstGeom prst="rect">
            <a:avLst/>
          </a:prstGeom>
          <a:noFill/>
          <a:ln>
            <a:noFill/>
          </a:ln>
        </p:spPr>
        <p:txBody>
          <a:bodyPr spcFirstLastPara="1" wrap="square" lIns="34275" tIns="34275" rIns="34275" bIns="34275" anchor="ctr" anchorCtr="0">
            <a:noAutofit/>
          </a:bodyPr>
          <a:lstStyle>
            <a:lvl1pPr marL="457200" marR="0" lvl="0"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914400" marR="0" lvl="1"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1371600" marR="0" lvl="2"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1828800" marR="0" lvl="3"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2286000" marR="0" lvl="4"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22" name="Google Shape;122;p37"/>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sz="500">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4.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25.xml"/><Relationship Id="rId4" Type="http://schemas.openxmlformats.org/officeDocument/2006/relationships/image" Target="../media/image7.jp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4.xml"/></Relationships>
</file>

<file path=ppt/slides/_rels/slide9.xml.rels><?xml version="1.0" encoding="UTF-8" standalone="yes"?>
<Relationships xmlns="http://schemas.openxmlformats.org/package/2006/relationships"><Relationship Id="rId3" Type="http://schemas.openxmlformats.org/officeDocument/2006/relationships/hyperlink" Target="mailto:john.smith@gmail.com" TargetMode="External"/><Relationship Id="rId2" Type="http://schemas.openxmlformats.org/officeDocument/2006/relationships/notesSlide" Target="../notesSlides/notesSlide9.xml"/><Relationship Id="rId1" Type="http://schemas.openxmlformats.org/officeDocument/2006/relationships/slideLayout" Target="../slideLayouts/slideLayout25.xml"/><Relationship Id="rId4" Type="http://schemas.openxmlformats.org/officeDocument/2006/relationships/hyperlink" Target="mailto:john.smith@yahoo.com"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4.xml"/></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4.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4.xml"/></Relationships>
</file>

<file path=ppt/slides/_rels/slide16.xml.rels><?xml version="1.0" encoding="UTF-8" standalone="yes"?>
<Relationships xmlns="http://schemas.openxmlformats.org/package/2006/relationships"><Relationship Id="rId3" Type="http://schemas.openxmlformats.org/officeDocument/2006/relationships/hyperlink" Target="mailto:john.smith@gmail.com" TargetMode="External"/><Relationship Id="rId2" Type="http://schemas.openxmlformats.org/officeDocument/2006/relationships/notesSlide" Target="../notesSlides/notesSlide16.xml"/><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4.xml"/></Relationships>
</file>

<file path=ppt/slides/_rels/slide2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0.xml"/><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1.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175"/>
        <p:cNvGrpSpPr/>
        <p:nvPr/>
      </p:nvGrpSpPr>
      <p:grpSpPr>
        <a:xfrm>
          <a:off x="0" y="0"/>
          <a:ext cx="0" cy="0"/>
          <a:chOff x="0" y="0"/>
          <a:chExt cx="0" cy="0"/>
        </a:xfrm>
      </p:grpSpPr>
      <p:sp>
        <p:nvSpPr>
          <p:cNvPr id="176" name="Google Shape;176;p51"/>
          <p:cNvSpPr/>
          <p:nvPr/>
        </p:nvSpPr>
        <p:spPr>
          <a:xfrm rot="-5400000">
            <a:off x="4270075" y="6556200"/>
            <a:ext cx="3502200" cy="3502200"/>
          </a:xfrm>
          <a:prstGeom prst="rtTriangle">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7" name="Google Shape;177;p51"/>
          <p:cNvPicPr preferRelativeResize="0"/>
          <p:nvPr/>
        </p:nvPicPr>
        <p:blipFill>
          <a:blip r:embed="rId3">
            <a:alphaModFix/>
          </a:blip>
          <a:stretch>
            <a:fillRect/>
          </a:stretch>
        </p:blipFill>
        <p:spPr>
          <a:xfrm>
            <a:off x="6296025" y="8600600"/>
            <a:ext cx="1052250" cy="1052250"/>
          </a:xfrm>
          <a:prstGeom prst="rect">
            <a:avLst/>
          </a:prstGeom>
          <a:noFill/>
          <a:ln>
            <a:noFill/>
          </a:ln>
        </p:spPr>
      </p:pic>
      <p:sp>
        <p:nvSpPr>
          <p:cNvPr id="178" name="Google Shape;178;p51"/>
          <p:cNvSpPr txBox="1">
            <a:spLocks noGrp="1"/>
          </p:cNvSpPr>
          <p:nvPr>
            <p:ph type="title" idx="4294967295"/>
          </p:nvPr>
        </p:nvSpPr>
        <p:spPr>
          <a:xfrm>
            <a:off x="264895" y="966296"/>
            <a:ext cx="7242600" cy="1119900"/>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4000">
                <a:solidFill>
                  <a:srgbClr val="FFFFFF"/>
                </a:solidFill>
              </a:rPr>
              <a:t>Data Governance @ SneakerPark</a:t>
            </a:r>
            <a:endParaRPr sz="4000">
              <a:solidFill>
                <a:srgbClr val="FFFFFF"/>
              </a:solidFill>
            </a:endParaRPr>
          </a:p>
          <a:p>
            <a:pPr marL="0" lvl="0" indent="0" algn="l" rtl="0">
              <a:spcBef>
                <a:spcPts val="0"/>
              </a:spcBef>
              <a:spcAft>
                <a:spcPts val="0"/>
              </a:spcAft>
              <a:buNone/>
            </a:pPr>
            <a:endParaRPr/>
          </a:p>
        </p:txBody>
      </p:sp>
      <p:pic>
        <p:nvPicPr>
          <p:cNvPr id="179" name="Google Shape;179;p51"/>
          <p:cNvPicPr preferRelativeResize="0"/>
          <p:nvPr/>
        </p:nvPicPr>
        <p:blipFill rotWithShape="1">
          <a:blip r:embed="rId4">
            <a:alphaModFix/>
          </a:blip>
          <a:srcRect t="-1820" b="1820"/>
          <a:stretch/>
        </p:blipFill>
        <p:spPr>
          <a:xfrm>
            <a:off x="1617725" y="3728150"/>
            <a:ext cx="4506849" cy="2591575"/>
          </a:xfrm>
          <a:prstGeom prst="rect">
            <a:avLst/>
          </a:prstGeom>
          <a:noFill/>
          <a:ln>
            <a:noFill/>
          </a:ln>
        </p:spPr>
      </p:pic>
      <p:sp>
        <p:nvSpPr>
          <p:cNvPr id="180" name="Google Shape;180;p51"/>
          <p:cNvSpPr txBox="1"/>
          <p:nvPr/>
        </p:nvSpPr>
        <p:spPr>
          <a:xfrm>
            <a:off x="264900" y="9001125"/>
            <a:ext cx="4324200" cy="781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i="1" dirty="0">
                <a:solidFill>
                  <a:srgbClr val="EEEEEE"/>
                </a:solidFill>
                <a:latin typeface="Open Sans"/>
                <a:ea typeface="Open Sans"/>
                <a:cs typeface="Open Sans"/>
                <a:sym typeface="Open Sans"/>
              </a:rPr>
              <a:t>Prepared by: Christopher O’Hara, PhD, EngD</a:t>
            </a:r>
            <a:endParaRPr i="1" dirty="0">
              <a:solidFill>
                <a:srgbClr val="EEEEEE"/>
              </a:solidFill>
              <a:latin typeface="Open Sans"/>
              <a:ea typeface="Open Sans"/>
              <a:cs typeface="Open Sans"/>
              <a:sym typeface="Open Sans"/>
            </a:endParaRPr>
          </a:p>
          <a:p>
            <a:pPr marL="0" lvl="0" indent="0" algn="l" rtl="0">
              <a:spcBef>
                <a:spcPts val="0"/>
              </a:spcBef>
              <a:spcAft>
                <a:spcPts val="0"/>
              </a:spcAft>
              <a:buNone/>
            </a:pPr>
            <a:endParaRPr i="1" dirty="0">
              <a:solidFill>
                <a:srgbClr val="EEEEEE"/>
              </a:solidFill>
              <a:latin typeface="Open Sans"/>
              <a:ea typeface="Open Sans"/>
              <a:cs typeface="Open Sans"/>
              <a:sym typeface="Open Sans"/>
            </a:endParaRPr>
          </a:p>
          <a:p>
            <a:pPr marL="0" lvl="0" indent="0" algn="l" rtl="0">
              <a:spcBef>
                <a:spcPts val="0"/>
              </a:spcBef>
              <a:spcAft>
                <a:spcPts val="0"/>
              </a:spcAft>
              <a:buNone/>
            </a:pPr>
            <a:r>
              <a:rPr lang="en" i="1" dirty="0">
                <a:solidFill>
                  <a:srgbClr val="EEEEEE"/>
                </a:solidFill>
                <a:latin typeface="Open Sans"/>
                <a:ea typeface="Open Sans"/>
                <a:cs typeface="Open Sans"/>
                <a:sym typeface="Open Sans"/>
              </a:rPr>
              <a:t>Submitted on: 2025-11-17</a:t>
            </a:r>
            <a:endParaRPr i="1" dirty="0">
              <a:solidFill>
                <a:srgbClr val="EEEEEE"/>
              </a:solidFill>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54"/>
          <p:cNvSpPr txBox="1">
            <a:spLocks noGrp="1"/>
          </p:cNvSpPr>
          <p:nvPr>
            <p:ph type="title"/>
          </p:nvPr>
        </p:nvSpPr>
        <p:spPr>
          <a:xfrm>
            <a:off x="264895" y="1844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Background</a:t>
            </a:r>
            <a:endParaRPr/>
          </a:p>
        </p:txBody>
      </p:sp>
      <p:sp>
        <p:nvSpPr>
          <p:cNvPr id="204" name="Google Shape;204;p54"/>
          <p:cNvSpPr txBox="1">
            <a:spLocks noGrp="1"/>
          </p:cNvSpPr>
          <p:nvPr>
            <p:ph type="body" idx="1"/>
          </p:nvPr>
        </p:nvSpPr>
        <p:spPr>
          <a:xfrm>
            <a:off x="264900" y="1420950"/>
            <a:ext cx="6932700" cy="8332800"/>
          </a:xfrm>
          <a:prstGeom prst="rect">
            <a:avLst/>
          </a:prstGeom>
        </p:spPr>
        <p:txBody>
          <a:bodyPr spcFirstLastPara="1" wrap="square" lIns="91425" tIns="91425" rIns="91425" bIns="91425" anchor="t" anchorCtr="0">
            <a:noAutofit/>
          </a:bodyPr>
          <a:lstStyle/>
          <a:p>
            <a:pPr marL="457200" lvl="0" indent="-336550" algn="just" rtl="0">
              <a:lnSpc>
                <a:spcPct val="150000"/>
              </a:lnSpc>
              <a:spcBef>
                <a:spcPts val="0"/>
              </a:spcBef>
              <a:spcAft>
                <a:spcPts val="0"/>
              </a:spcAft>
              <a:buClr>
                <a:srgbClr val="525C65"/>
              </a:buClr>
              <a:buSzPts val="1700"/>
              <a:buFont typeface="Open Sans"/>
              <a:buChar char="●"/>
            </a:pPr>
            <a:r>
              <a:rPr lang="en" sz="1700" b="1">
                <a:solidFill>
                  <a:srgbClr val="525C65"/>
                </a:solidFill>
                <a:highlight>
                  <a:srgbClr val="FFFFFF"/>
                </a:highlight>
                <a:latin typeface="Open Sans"/>
                <a:ea typeface="Open Sans"/>
                <a:cs typeface="Open Sans"/>
                <a:sym typeface="Open Sans"/>
              </a:rPr>
              <a:t>SneakerPark</a:t>
            </a:r>
            <a:r>
              <a:rPr lang="en" sz="1700">
                <a:solidFill>
                  <a:srgbClr val="525C65"/>
                </a:solidFill>
                <a:highlight>
                  <a:srgbClr val="FFFFFF"/>
                </a:highlight>
                <a:latin typeface="Open Sans"/>
                <a:ea typeface="Open Sans"/>
                <a:cs typeface="Open Sans"/>
                <a:sym typeface="Open Sans"/>
              </a:rPr>
              <a:t> is an online shoe reseller that allows people to buy and sell used and new shoes. Buyers can bid for shoes or buy them outright, and sellers can set a price or sell to the highest bidder.</a:t>
            </a:r>
            <a:endParaRPr sz="1700">
              <a:solidFill>
                <a:srgbClr val="525C65"/>
              </a:solidFill>
              <a:highlight>
                <a:srgbClr val="FFFFFF"/>
              </a:highlight>
              <a:latin typeface="Open Sans"/>
              <a:ea typeface="Open Sans"/>
              <a:cs typeface="Open Sans"/>
              <a:sym typeface="Open Sans"/>
            </a:endParaRPr>
          </a:p>
          <a:p>
            <a:pPr marL="457200" lvl="0" indent="-336550" algn="just" rtl="0">
              <a:lnSpc>
                <a:spcPct val="150000"/>
              </a:lnSpc>
              <a:spcBef>
                <a:spcPts val="0"/>
              </a:spcBef>
              <a:spcAft>
                <a:spcPts val="0"/>
              </a:spcAft>
              <a:buClr>
                <a:srgbClr val="525C65"/>
              </a:buClr>
              <a:buSzPts val="1700"/>
              <a:buFont typeface="Open Sans"/>
              <a:buChar char="●"/>
            </a:pPr>
            <a:r>
              <a:rPr lang="en" sz="1700">
                <a:solidFill>
                  <a:srgbClr val="525C65"/>
                </a:solidFill>
                <a:highlight>
                  <a:srgbClr val="FFFFFF"/>
                </a:highlight>
                <a:latin typeface="Open Sans"/>
                <a:ea typeface="Open Sans"/>
                <a:cs typeface="Open Sans"/>
                <a:sym typeface="Open Sans"/>
              </a:rPr>
              <a:t>Each buyer and seller must have an active account in order to sell, bid, or purchase sneakers using SneakerPark’s website.</a:t>
            </a:r>
            <a:endParaRPr sz="1700">
              <a:solidFill>
                <a:srgbClr val="525C65"/>
              </a:solidFill>
              <a:highlight>
                <a:srgbClr val="FFFFFF"/>
              </a:highlight>
              <a:latin typeface="Open Sans"/>
              <a:ea typeface="Open Sans"/>
              <a:cs typeface="Open Sans"/>
              <a:sym typeface="Open Sans"/>
            </a:endParaRPr>
          </a:p>
          <a:p>
            <a:pPr marL="457200" lvl="0" indent="-336550" algn="just" rtl="0">
              <a:lnSpc>
                <a:spcPct val="150000"/>
              </a:lnSpc>
              <a:spcBef>
                <a:spcPts val="0"/>
              </a:spcBef>
              <a:spcAft>
                <a:spcPts val="0"/>
              </a:spcAft>
              <a:buClr>
                <a:srgbClr val="525C65"/>
              </a:buClr>
              <a:buSzPts val="1700"/>
              <a:buFont typeface="Open Sans"/>
              <a:buChar char="●"/>
            </a:pPr>
            <a:r>
              <a:rPr lang="en" sz="1700">
                <a:solidFill>
                  <a:srgbClr val="525C65"/>
                </a:solidFill>
                <a:highlight>
                  <a:srgbClr val="FFFFFF"/>
                </a:highlight>
                <a:latin typeface="Open Sans"/>
                <a:ea typeface="Open Sans"/>
                <a:cs typeface="Open Sans"/>
                <a:sym typeface="Open Sans"/>
              </a:rPr>
              <a:t>SneakerPark authenticates the shoes before shipping them to the buyer, so before listing an item, the seller must ship it to SneakerPark’s warehouse. Upon receipt, SneakerPark assigns an item number to each pair of sneakers and notifies the seller that they are now free to list their item. If the item is not listed within 45 days, SneakerPark returns it to the seller and sends an invoice to the seller for the shipping cost.</a:t>
            </a:r>
            <a:endParaRPr sz="1700">
              <a:solidFill>
                <a:srgbClr val="525C65"/>
              </a:solidFill>
              <a:highlight>
                <a:srgbClr val="FFFFFF"/>
              </a:highlight>
              <a:latin typeface="Open Sans"/>
              <a:ea typeface="Open Sans"/>
              <a:cs typeface="Open Sans"/>
              <a:sym typeface="Open Sans"/>
            </a:endParaRPr>
          </a:p>
          <a:p>
            <a:pPr marL="457200" lvl="0" indent="-336550" algn="just" rtl="0">
              <a:lnSpc>
                <a:spcPct val="150000"/>
              </a:lnSpc>
              <a:spcBef>
                <a:spcPts val="0"/>
              </a:spcBef>
              <a:spcAft>
                <a:spcPts val="0"/>
              </a:spcAft>
              <a:buClr>
                <a:srgbClr val="525C65"/>
              </a:buClr>
              <a:buSzPts val="1700"/>
              <a:buFont typeface="Open Sans"/>
              <a:buChar char="●"/>
            </a:pPr>
            <a:r>
              <a:rPr lang="en" sz="1700">
                <a:solidFill>
                  <a:srgbClr val="525C65"/>
                </a:solidFill>
                <a:highlight>
                  <a:srgbClr val="FFFFFF"/>
                </a:highlight>
                <a:latin typeface="Open Sans"/>
                <a:ea typeface="Open Sans"/>
                <a:cs typeface="Open Sans"/>
                <a:sym typeface="Open Sans"/>
              </a:rPr>
              <a:t>If the item is found to be inauthentic or in an unacceptable condition, it is also returned back to the seller in a similar fashion.</a:t>
            </a:r>
            <a:endParaRPr sz="1700">
              <a:solidFill>
                <a:srgbClr val="525C65"/>
              </a:solidFill>
              <a:highlight>
                <a:srgbClr val="FFFFFF"/>
              </a:highlight>
              <a:latin typeface="Open Sans"/>
              <a:ea typeface="Open Sans"/>
              <a:cs typeface="Open Sans"/>
              <a:sym typeface="Open Sans"/>
            </a:endParaRPr>
          </a:p>
          <a:p>
            <a:pPr marL="457200" lvl="0" indent="-336550" algn="just" rtl="0">
              <a:lnSpc>
                <a:spcPct val="150000"/>
              </a:lnSpc>
              <a:spcBef>
                <a:spcPts val="0"/>
              </a:spcBef>
              <a:spcAft>
                <a:spcPts val="0"/>
              </a:spcAft>
              <a:buClr>
                <a:srgbClr val="525C65"/>
              </a:buClr>
              <a:buSzPts val="1700"/>
              <a:buFont typeface="Open Sans"/>
              <a:buChar char="●"/>
            </a:pPr>
            <a:r>
              <a:rPr lang="en" sz="1700">
                <a:solidFill>
                  <a:srgbClr val="525C65"/>
                </a:solidFill>
                <a:highlight>
                  <a:srgbClr val="FFFFFF"/>
                </a:highlight>
                <a:latin typeface="Open Sans"/>
                <a:ea typeface="Open Sans"/>
                <a:cs typeface="Open Sans"/>
                <a:sym typeface="Open Sans"/>
              </a:rPr>
              <a:t>When the item sells, the buyer’s account is credited with the purchase price minus the SneakerPark service fee and shipping fees to deliver the item to the buyer.</a:t>
            </a:r>
            <a:endParaRPr sz="1700">
              <a:solidFill>
                <a:srgbClr val="525C65"/>
              </a:solidFill>
              <a:highlight>
                <a:srgbClr val="FFFFFF"/>
              </a:highlight>
              <a:latin typeface="Open Sans"/>
              <a:ea typeface="Open Sans"/>
              <a:cs typeface="Open Sans"/>
              <a:sym typeface="Open Sans"/>
            </a:endParaRPr>
          </a:p>
          <a:p>
            <a:pPr marL="457200" lvl="0" indent="-336550" algn="just" rtl="0">
              <a:lnSpc>
                <a:spcPct val="150000"/>
              </a:lnSpc>
              <a:spcBef>
                <a:spcPts val="0"/>
              </a:spcBef>
              <a:spcAft>
                <a:spcPts val="0"/>
              </a:spcAft>
              <a:buClr>
                <a:srgbClr val="525C65"/>
              </a:buClr>
              <a:buSzPts val="1700"/>
              <a:buFont typeface="Open Sans"/>
              <a:buChar char="●"/>
            </a:pPr>
            <a:r>
              <a:rPr lang="en" sz="1700">
                <a:solidFill>
                  <a:srgbClr val="525C65"/>
                </a:solidFill>
                <a:highlight>
                  <a:srgbClr val="FFFFFF"/>
                </a:highlight>
                <a:latin typeface="Open Sans"/>
                <a:ea typeface="Open Sans"/>
                <a:cs typeface="Open Sans"/>
                <a:sym typeface="Open Sans"/>
              </a:rPr>
              <a:t>Currently, SneakerPark only supports sales within the United States.</a:t>
            </a:r>
            <a:endParaRPr sz="1700">
              <a:solidFill>
                <a:srgbClr val="525C65"/>
              </a:solidFill>
              <a:highlight>
                <a:srgbClr val="FFFFFF"/>
              </a:highlight>
              <a:latin typeface="Open Sans"/>
              <a:ea typeface="Open Sans"/>
              <a:cs typeface="Open Sans"/>
              <a:sym typeface="Open Sans"/>
            </a:endParaRPr>
          </a:p>
          <a:p>
            <a:pPr marL="0" marR="241300" lvl="0" indent="0" algn="just" rtl="0">
              <a:lnSpc>
                <a:spcPct val="150000"/>
              </a:lnSpc>
              <a:spcBef>
                <a:spcPts val="1100"/>
              </a:spcBef>
              <a:spcAft>
                <a:spcPts val="400"/>
              </a:spcAft>
              <a:buClr>
                <a:schemeClr val="dk1"/>
              </a:buClr>
              <a:buSzPts val="1100"/>
              <a:buFont typeface="Arial"/>
              <a:buNone/>
            </a:pPr>
            <a:endParaRPr sz="1700" b="1">
              <a:solidFill>
                <a:srgbClr val="2E3D49"/>
              </a:solidFill>
              <a:highlight>
                <a:srgbClr val="FFFFFF"/>
              </a:highlight>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55"/>
          <p:cNvSpPr txBox="1">
            <a:spLocks noGrp="1"/>
          </p:cNvSpPr>
          <p:nvPr>
            <p:ph type="title"/>
          </p:nvPr>
        </p:nvSpPr>
        <p:spPr>
          <a:xfrm>
            <a:off x="264895" y="403546"/>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Background (cont’d)</a:t>
            </a:r>
            <a:endParaRPr/>
          </a:p>
        </p:txBody>
      </p:sp>
      <p:sp>
        <p:nvSpPr>
          <p:cNvPr id="210" name="Google Shape;210;p55"/>
          <p:cNvSpPr txBox="1"/>
          <p:nvPr/>
        </p:nvSpPr>
        <p:spPr>
          <a:xfrm>
            <a:off x="228600" y="1562100"/>
            <a:ext cx="6876900" cy="2426400"/>
          </a:xfrm>
          <a:prstGeom prst="rect">
            <a:avLst/>
          </a:prstGeom>
          <a:noFill/>
          <a:ln>
            <a:noFill/>
          </a:ln>
        </p:spPr>
        <p:txBody>
          <a:bodyPr spcFirstLastPara="1" wrap="square" lIns="91425" tIns="91425" rIns="91425" bIns="91425" anchor="t" anchorCtr="0">
            <a:noAutofit/>
          </a:bodyPr>
          <a:lstStyle/>
          <a:p>
            <a:pPr marL="457200" lvl="0" indent="-342900" algn="just" rtl="0">
              <a:lnSpc>
                <a:spcPct val="170000"/>
              </a:lnSpc>
              <a:spcBef>
                <a:spcPts val="0"/>
              </a:spcBef>
              <a:spcAft>
                <a:spcPts val="0"/>
              </a:spcAft>
              <a:buClr>
                <a:srgbClr val="525C65"/>
              </a:buClr>
              <a:buSzPts val="1800"/>
              <a:buFont typeface="Open Sans"/>
              <a:buChar char="●"/>
            </a:pPr>
            <a:r>
              <a:rPr lang="en" sz="1800">
                <a:solidFill>
                  <a:srgbClr val="525C65"/>
                </a:solidFill>
                <a:highlight>
                  <a:srgbClr val="FFFFFF"/>
                </a:highlight>
                <a:latin typeface="Open Sans"/>
                <a:ea typeface="Open Sans"/>
                <a:cs typeface="Open Sans"/>
                <a:sym typeface="Open Sans"/>
              </a:rPr>
              <a:t>Below you can see a diagram that will hopefully help you visualize some of SneakerPark's business processes. Keep in mind that it does not capture ALL processes and every nuance, but simply serves as another artifact to use in your project.</a:t>
            </a:r>
            <a:endParaRPr sz="1800">
              <a:solidFill>
                <a:srgbClr val="525C65"/>
              </a:solidFill>
              <a:highlight>
                <a:srgbClr val="FFFFFF"/>
              </a:highlight>
              <a:latin typeface="Open Sans"/>
              <a:ea typeface="Open Sans"/>
              <a:cs typeface="Open Sans"/>
              <a:sym typeface="Open Sans"/>
            </a:endParaRPr>
          </a:p>
        </p:txBody>
      </p:sp>
      <p:pic>
        <p:nvPicPr>
          <p:cNvPr id="211" name="Google Shape;211;p55"/>
          <p:cNvPicPr preferRelativeResize="0"/>
          <p:nvPr/>
        </p:nvPicPr>
        <p:blipFill>
          <a:blip r:embed="rId3">
            <a:alphaModFix/>
          </a:blip>
          <a:stretch>
            <a:fillRect/>
          </a:stretch>
        </p:blipFill>
        <p:spPr>
          <a:xfrm>
            <a:off x="152400" y="4140900"/>
            <a:ext cx="7467599" cy="470863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15"/>
        <p:cNvGrpSpPr/>
        <p:nvPr/>
      </p:nvGrpSpPr>
      <p:grpSpPr>
        <a:xfrm>
          <a:off x="0" y="0"/>
          <a:ext cx="0" cy="0"/>
          <a:chOff x="0" y="0"/>
          <a:chExt cx="0" cy="0"/>
        </a:xfrm>
      </p:grpSpPr>
      <p:sp>
        <p:nvSpPr>
          <p:cNvPr id="216" name="Google Shape;216;p56"/>
          <p:cNvSpPr/>
          <p:nvPr/>
        </p:nvSpPr>
        <p:spPr>
          <a:xfrm>
            <a:off x="3582591" y="3663029"/>
            <a:ext cx="607200" cy="74400"/>
          </a:xfrm>
          <a:prstGeom prst="rect">
            <a:avLst/>
          </a:prstGeom>
          <a:solidFill>
            <a:srgbClr val="02B4E5"/>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
        <p:nvSpPr>
          <p:cNvPr id="217" name="Google Shape;217;p56"/>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
        <p:nvSpPr>
          <p:cNvPr id="218" name="Google Shape;218;p56"/>
          <p:cNvSpPr/>
          <p:nvPr/>
        </p:nvSpPr>
        <p:spPr>
          <a:xfrm>
            <a:off x="911700" y="4003550"/>
            <a:ext cx="59490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1</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Enterprise Data Catalog          Part 1: Enterprise Data Model</a:t>
            </a:r>
            <a:endParaRPr sz="3000">
              <a:solidFill>
                <a:srgbClr val="FFFFFF"/>
              </a:solidFill>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pic>
        <p:nvPicPr>
          <p:cNvPr id="3" name="Picture 2">
            <a:extLst>
              <a:ext uri="{FF2B5EF4-FFF2-40B4-BE49-F238E27FC236}">
                <a16:creationId xmlns:a16="http://schemas.microsoft.com/office/drawing/2014/main" id="{380CC46A-370F-43C6-C320-B65CC42A9203}"/>
              </a:ext>
            </a:extLst>
          </p:cNvPr>
          <p:cNvPicPr>
            <a:picLocks noChangeAspect="1"/>
          </p:cNvPicPr>
          <p:nvPr/>
        </p:nvPicPr>
        <p:blipFill>
          <a:blip r:embed="rId3"/>
          <a:srcRect/>
          <a:stretch/>
        </p:blipFill>
        <p:spPr>
          <a:xfrm>
            <a:off x="791588" y="467791"/>
            <a:ext cx="6189223" cy="912281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34"/>
        <p:cNvGrpSpPr/>
        <p:nvPr/>
      </p:nvGrpSpPr>
      <p:grpSpPr>
        <a:xfrm>
          <a:off x="0" y="0"/>
          <a:ext cx="0" cy="0"/>
          <a:chOff x="0" y="0"/>
          <a:chExt cx="0" cy="0"/>
        </a:xfrm>
      </p:grpSpPr>
      <p:sp>
        <p:nvSpPr>
          <p:cNvPr id="235" name="Google Shape;235;p59"/>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
        <p:nvSpPr>
          <p:cNvPr id="236" name="Google Shape;236;p59"/>
          <p:cNvSpPr/>
          <p:nvPr/>
        </p:nvSpPr>
        <p:spPr>
          <a:xfrm>
            <a:off x="911700" y="4003550"/>
            <a:ext cx="59490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2</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Enterprise Data Catalog          Part 2: Metadata</a:t>
            </a:r>
            <a:endParaRPr sz="3000">
              <a:solidFill>
                <a:srgbClr val="FFFFFF"/>
              </a:solidFill>
              <a:latin typeface="Open Sans"/>
              <a:ea typeface="Open Sans"/>
              <a:cs typeface="Open Sans"/>
              <a:sym typeface="Open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B95D477A-E8B0-4C43-8EE7-41F649E549F7}"/>
              </a:ext>
            </a:extLst>
          </p:cNvPr>
          <p:cNvPicPr>
            <a:picLocks noChangeAspect="1"/>
          </p:cNvPicPr>
          <p:nvPr/>
        </p:nvPicPr>
        <p:blipFill>
          <a:blip r:embed="rId3"/>
          <a:stretch>
            <a:fillRect/>
          </a:stretch>
        </p:blipFill>
        <p:spPr>
          <a:xfrm>
            <a:off x="0" y="507378"/>
            <a:ext cx="7772400" cy="4207483"/>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3FA4E9ED-0297-BEDA-62FE-EA727387E7DA}"/>
              </a:ext>
            </a:extLst>
          </p:cNvPr>
          <p:cNvPicPr>
            <a:picLocks noChangeAspect="1"/>
          </p:cNvPicPr>
          <p:nvPr/>
        </p:nvPicPr>
        <p:blipFill>
          <a:blip r:embed="rId4"/>
          <a:stretch>
            <a:fillRect/>
          </a:stretch>
        </p:blipFill>
        <p:spPr>
          <a:xfrm>
            <a:off x="0" y="5550100"/>
            <a:ext cx="7772400" cy="2087479"/>
          </a:xfrm>
          <a:prstGeom prst="rect">
            <a:avLst/>
          </a:prstGeom>
        </p:spPr>
      </p:pic>
      <p:sp>
        <p:nvSpPr>
          <p:cNvPr id="9" name="TextBox 8">
            <a:extLst>
              <a:ext uri="{FF2B5EF4-FFF2-40B4-BE49-F238E27FC236}">
                <a16:creationId xmlns:a16="http://schemas.microsoft.com/office/drawing/2014/main" id="{A9A0748E-9D04-D960-5F97-436E12A3DB9A}"/>
              </a:ext>
            </a:extLst>
          </p:cNvPr>
          <p:cNvSpPr txBox="1"/>
          <p:nvPr/>
        </p:nvSpPr>
        <p:spPr>
          <a:xfrm>
            <a:off x="0" y="199601"/>
            <a:ext cx="3886200" cy="307777"/>
          </a:xfrm>
          <a:prstGeom prst="rect">
            <a:avLst/>
          </a:prstGeom>
          <a:noFill/>
        </p:spPr>
        <p:txBody>
          <a:bodyPr wrap="square">
            <a:spAutoFit/>
          </a:bodyPr>
          <a:lstStyle/>
          <a:p>
            <a:pPr marL="0" lvl="0" indent="0" algn="just" rtl="0">
              <a:spcBef>
                <a:spcPts val="0"/>
              </a:spcBef>
              <a:spcAft>
                <a:spcPts val="1600"/>
              </a:spcAft>
              <a:buClr>
                <a:schemeClr val="dk1"/>
              </a:buClr>
              <a:buSzPts val="1100"/>
              <a:buFont typeface="Arial"/>
              <a:buNone/>
            </a:pPr>
            <a:r>
              <a:rPr lang="en-US" sz="1400" b="1" dirty="0">
                <a:solidFill>
                  <a:schemeClr val="tx1"/>
                </a:solidFill>
                <a:highlight>
                  <a:schemeClr val="lt1"/>
                </a:highlight>
                <a:latin typeface="Open Sans" panose="020B0606030504020204" pitchFamily="34" charset="0"/>
                <a:ea typeface="Open Sans" panose="020B0606030504020204" pitchFamily="34" charset="0"/>
                <a:cs typeface="Open Sans" panose="020B0606030504020204" pitchFamily="34" charset="0"/>
                <a:sym typeface="Open Sans"/>
              </a:rPr>
              <a:t>Data Dictionary</a:t>
            </a:r>
            <a:endParaRPr lang="en-US" sz="1400" dirty="0">
              <a:solidFill>
                <a:schemeClr val="tx1"/>
              </a:solidFill>
              <a:highlight>
                <a:schemeClr val="lt1"/>
              </a:highlight>
              <a:latin typeface="Open Sans" panose="020B0606030504020204" pitchFamily="34" charset="0"/>
              <a:ea typeface="Open Sans" panose="020B0606030504020204" pitchFamily="34" charset="0"/>
              <a:cs typeface="Open Sans" panose="020B0606030504020204" pitchFamily="34" charset="0"/>
            </a:endParaRPr>
          </a:p>
        </p:txBody>
      </p:sp>
      <p:sp>
        <p:nvSpPr>
          <p:cNvPr id="10" name="TextBox 9">
            <a:extLst>
              <a:ext uri="{FF2B5EF4-FFF2-40B4-BE49-F238E27FC236}">
                <a16:creationId xmlns:a16="http://schemas.microsoft.com/office/drawing/2014/main" id="{0EE8C48B-59A4-2356-2DED-A124AA04934E}"/>
              </a:ext>
            </a:extLst>
          </p:cNvPr>
          <p:cNvSpPr txBox="1"/>
          <p:nvPr/>
        </p:nvSpPr>
        <p:spPr>
          <a:xfrm>
            <a:off x="0" y="5189651"/>
            <a:ext cx="3886200" cy="307777"/>
          </a:xfrm>
          <a:prstGeom prst="rect">
            <a:avLst/>
          </a:prstGeom>
          <a:noFill/>
        </p:spPr>
        <p:txBody>
          <a:bodyPr wrap="square">
            <a:spAutoFit/>
          </a:bodyPr>
          <a:lstStyle/>
          <a:p>
            <a:pPr marL="0" lvl="0" indent="0" algn="just" rtl="0">
              <a:spcBef>
                <a:spcPts val="0"/>
              </a:spcBef>
              <a:spcAft>
                <a:spcPts val="1600"/>
              </a:spcAft>
              <a:buClr>
                <a:schemeClr val="dk1"/>
              </a:buClr>
              <a:buSzPts val="1100"/>
              <a:buFont typeface="Arial"/>
              <a:buNone/>
            </a:pPr>
            <a:r>
              <a:rPr lang="en-US" sz="1400" b="1" dirty="0">
                <a:solidFill>
                  <a:schemeClr val="tx1"/>
                </a:solidFill>
                <a:highlight>
                  <a:schemeClr val="lt1"/>
                </a:highlight>
                <a:latin typeface="Open Sans" panose="020B0606030504020204" pitchFamily="34" charset="0"/>
                <a:ea typeface="Open Sans" panose="020B0606030504020204" pitchFamily="34" charset="0"/>
                <a:cs typeface="Open Sans" panose="020B0606030504020204" pitchFamily="34" charset="0"/>
                <a:sym typeface="Open Sans"/>
              </a:rPr>
              <a:t>Business Metadata</a:t>
            </a:r>
            <a:endParaRPr lang="en-US" sz="1400" dirty="0">
              <a:solidFill>
                <a:schemeClr val="tx1"/>
              </a:solidFill>
              <a:highlight>
                <a:schemeClr val="lt1"/>
              </a:highlight>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45"/>
        <p:cNvGrpSpPr/>
        <p:nvPr/>
      </p:nvGrpSpPr>
      <p:grpSpPr>
        <a:xfrm>
          <a:off x="0" y="0"/>
          <a:ext cx="0" cy="0"/>
          <a:chOff x="0" y="0"/>
          <a:chExt cx="0" cy="0"/>
        </a:xfrm>
      </p:grpSpPr>
      <p:sp>
        <p:nvSpPr>
          <p:cNvPr id="246" name="Google Shape;246;p61"/>
          <p:cNvSpPr/>
          <p:nvPr/>
        </p:nvSpPr>
        <p:spPr>
          <a:xfrm>
            <a:off x="1051200" y="4003550"/>
            <a:ext cx="56700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3</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Data Quality</a:t>
            </a:r>
            <a:endParaRPr sz="3000">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Part 1: Profiling and Cleansing</a:t>
            </a:r>
            <a:endParaRPr sz="3000">
              <a:solidFill>
                <a:srgbClr val="FFFFFF"/>
              </a:solidFill>
              <a:latin typeface="Open Sans"/>
              <a:ea typeface="Open Sans"/>
              <a:cs typeface="Open Sans"/>
              <a:sym typeface="Open Sans"/>
            </a:endParaRPr>
          </a:p>
        </p:txBody>
      </p:sp>
      <p:sp>
        <p:nvSpPr>
          <p:cNvPr id="247" name="Google Shape;247;p61"/>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62"/>
          <p:cNvSpPr txBox="1"/>
          <p:nvPr/>
        </p:nvSpPr>
        <p:spPr>
          <a:xfrm>
            <a:off x="504500" y="425674"/>
            <a:ext cx="6810600" cy="9043445"/>
          </a:xfrm>
          <a:prstGeom prst="rect">
            <a:avLst/>
          </a:prstGeom>
          <a:noFill/>
          <a:ln>
            <a:noFill/>
          </a:ln>
        </p:spPr>
        <p:txBody>
          <a:bodyPr spcFirstLastPara="1" wrap="square" lIns="91425" tIns="91425" rIns="91425" bIns="91425" anchor="t" anchorCtr="0">
            <a:noAutofit/>
          </a:bodyPr>
          <a:lstStyle/>
          <a:p>
            <a:pPr algn="l"/>
            <a:r>
              <a:rPr lang="en-US" sz="1200" b="1" i="0" dirty="0">
                <a:solidFill>
                  <a:schemeClr val="tx1"/>
                </a:solidFill>
                <a:effectLst/>
                <a:latin typeface="SCE-PS3 Rodin LATIN" panose="02000700000000000000" pitchFamily="2" charset="0"/>
              </a:rPr>
              <a:t>Existing Issues (4):</a:t>
            </a:r>
            <a:endParaRPr lang="en-US" sz="1200" b="0" i="0" dirty="0">
              <a:solidFill>
                <a:schemeClr val="tx1"/>
              </a:solidFill>
              <a:effectLst/>
              <a:latin typeface="SCE-PS3 Rodin LATIN" panose="02000700000000000000" pitchFamily="2" charset="0"/>
            </a:endParaRPr>
          </a:p>
          <a:p>
            <a:pPr marL="228600" indent="-228600" algn="l">
              <a:buFont typeface="+mj-lt"/>
              <a:buAutoNum type="arabicPeriod"/>
            </a:pPr>
            <a:r>
              <a:rPr lang="en-US" sz="1200" b="1" i="0" dirty="0">
                <a:solidFill>
                  <a:schemeClr val="tx1"/>
                </a:solidFill>
                <a:effectLst/>
                <a:latin typeface="SCE-PS3 Rodin LATIN" panose="02000700000000000000" pitchFamily="2" charset="0"/>
              </a:rPr>
              <a:t>Missing </a:t>
            </a:r>
            <a:r>
              <a:rPr lang="en-US" sz="1200" b="1" i="0" dirty="0" err="1">
                <a:solidFill>
                  <a:schemeClr val="tx1"/>
                </a:solidFill>
                <a:effectLst/>
                <a:latin typeface="SCE-PS3 Rodin LATIN" panose="02000700000000000000" pitchFamily="2" charset="0"/>
              </a:rPr>
              <a:t>ShoeType</a:t>
            </a:r>
            <a:r>
              <a:rPr lang="en-US" sz="1200" b="1" i="0" dirty="0">
                <a:solidFill>
                  <a:schemeClr val="tx1"/>
                </a:solidFill>
                <a:effectLst/>
                <a:latin typeface="SCE-PS3 Rodin LATIN" panose="02000700000000000000" pitchFamily="2" charset="0"/>
              </a:rPr>
              <a:t> Values (Completeness Issue)</a:t>
            </a:r>
            <a:endParaRPr lang="en-US" sz="1200" b="0" i="0" dirty="0">
              <a:solidFill>
                <a:schemeClr val="tx1"/>
              </a:solidFill>
              <a:effectLst/>
              <a:latin typeface="SCE-PS3 Rodin LATIN" panose="02000700000000000000" pitchFamily="2" charset="0"/>
            </a:endParaRPr>
          </a:p>
          <a:p>
            <a:pPr marL="742950" lvl="1" indent="-285750" algn="l">
              <a:buFont typeface="Arial" panose="020B0604020202020204" pitchFamily="34" charset="0"/>
              <a:buChar char="•"/>
            </a:pPr>
            <a:r>
              <a:rPr lang="en-US" sz="1200" b="0" i="0" dirty="0">
                <a:solidFill>
                  <a:schemeClr val="tx1"/>
                </a:solidFill>
                <a:effectLst/>
                <a:latin typeface="SCE-PS3 Rodin LATIN" panose="02000700000000000000" pitchFamily="2" charset="0"/>
              </a:rPr>
              <a:t>15.2% of listings have NULL </a:t>
            </a:r>
            <a:r>
              <a:rPr lang="en-US" sz="1200" b="0" i="0" dirty="0" err="1">
                <a:solidFill>
                  <a:schemeClr val="tx1"/>
                </a:solidFill>
                <a:effectLst/>
                <a:latin typeface="SCE-PS3 Rodin LATIN" panose="02000700000000000000" pitchFamily="2" charset="0"/>
              </a:rPr>
              <a:t>ShoeType</a:t>
            </a:r>
            <a:r>
              <a:rPr lang="en-US" sz="1200" b="0" i="0" dirty="0">
                <a:solidFill>
                  <a:schemeClr val="tx1"/>
                </a:solidFill>
                <a:effectLst/>
                <a:latin typeface="SCE-PS3 Rodin LATIN" panose="02000700000000000000" pitchFamily="2" charset="0"/>
              </a:rPr>
              <a:t> (e.g., </a:t>
            </a:r>
            <a:r>
              <a:rPr lang="en-US" sz="1200" b="0" i="0" dirty="0" err="1">
                <a:solidFill>
                  <a:schemeClr val="tx1"/>
                </a:solidFill>
                <a:effectLst/>
                <a:latin typeface="SCE-PS3 Rodin LATIN" panose="02000700000000000000" pitchFamily="2" charset="0"/>
              </a:rPr>
              <a:t>ListingID</a:t>
            </a:r>
            <a:r>
              <a:rPr lang="en-US" sz="1200" b="0" i="0" dirty="0">
                <a:solidFill>
                  <a:schemeClr val="tx1"/>
                </a:solidFill>
                <a:effectLst/>
                <a:latin typeface="SCE-PS3 Rodin LATIN" panose="02000700000000000000" pitchFamily="2" charset="0"/>
              </a:rPr>
              <a:t> 922399, SQL line 1712)</a:t>
            </a:r>
          </a:p>
          <a:p>
            <a:pPr marL="742950" lvl="1" indent="-285750" algn="l">
              <a:buFont typeface="Arial" panose="020B0604020202020204" pitchFamily="34" charset="0"/>
              <a:buChar char="•"/>
            </a:pPr>
            <a:r>
              <a:rPr lang="en-US" sz="1200" b="1" i="0" dirty="0">
                <a:solidFill>
                  <a:schemeClr val="tx1"/>
                </a:solidFill>
                <a:effectLst/>
                <a:latin typeface="SCE-PS3 Rodin LATIN" panose="02000700000000000000" pitchFamily="2" charset="0"/>
              </a:rPr>
              <a:t>Impact</a:t>
            </a:r>
            <a:r>
              <a:rPr lang="en-US" sz="1200" b="0" i="0" dirty="0">
                <a:solidFill>
                  <a:schemeClr val="tx1"/>
                </a:solidFill>
                <a:effectLst/>
                <a:latin typeface="SCE-PS3 Rodin LATIN" panose="02000700000000000000" pitchFamily="2" charset="0"/>
              </a:rPr>
              <a:t>: Customers cannot filter/search by shoe category</a:t>
            </a:r>
          </a:p>
          <a:p>
            <a:pPr marL="742950" lvl="1" indent="-285750" algn="l">
              <a:buFont typeface="Arial" panose="020B0604020202020204" pitchFamily="34" charset="0"/>
              <a:buChar char="•"/>
            </a:pPr>
            <a:r>
              <a:rPr lang="en-US" sz="1200" b="1" i="0" dirty="0">
                <a:solidFill>
                  <a:schemeClr val="tx1"/>
                </a:solidFill>
                <a:effectLst/>
                <a:latin typeface="SCE-PS3 Rodin LATIN" panose="02000700000000000000" pitchFamily="2" charset="0"/>
              </a:rPr>
              <a:t>DQ Rule</a:t>
            </a:r>
            <a:r>
              <a:rPr lang="en-US" sz="1200" b="0" i="0" dirty="0">
                <a:solidFill>
                  <a:schemeClr val="tx1"/>
                </a:solidFill>
                <a:effectLst/>
                <a:latin typeface="SCE-PS3 Rodin LATIN" panose="02000700000000000000" pitchFamily="2" charset="0"/>
              </a:rPr>
              <a:t>: Every listing must have a shoe type specified to help customers find the right product</a:t>
            </a:r>
          </a:p>
          <a:p>
            <a:pPr marL="742950" lvl="1" indent="-285750" algn="l">
              <a:buFont typeface="Arial" panose="020B0604020202020204" pitchFamily="34" charset="0"/>
              <a:buChar char="•"/>
            </a:pPr>
            <a:r>
              <a:rPr lang="en-US" sz="1200" b="1" i="0" dirty="0">
                <a:solidFill>
                  <a:schemeClr val="tx1"/>
                </a:solidFill>
                <a:effectLst/>
                <a:latin typeface="SCE-PS3 Rodin LATIN" panose="02000700000000000000" pitchFamily="2" charset="0"/>
              </a:rPr>
              <a:t>Metric</a:t>
            </a:r>
            <a:r>
              <a:rPr lang="en-US" sz="1200" b="0" i="0" dirty="0">
                <a:solidFill>
                  <a:schemeClr val="tx1"/>
                </a:solidFill>
                <a:effectLst/>
                <a:latin typeface="SCE-PS3 Rodin LATIN" panose="02000700000000000000" pitchFamily="2" charset="0"/>
              </a:rPr>
              <a:t>: (COUNT of listings where </a:t>
            </a:r>
            <a:r>
              <a:rPr lang="en-US" sz="1200" b="0" i="0" dirty="0" err="1">
                <a:solidFill>
                  <a:schemeClr val="tx1"/>
                </a:solidFill>
                <a:effectLst/>
                <a:latin typeface="SCE-PS3 Rodin LATIN" panose="02000700000000000000" pitchFamily="2" charset="0"/>
              </a:rPr>
              <a:t>ShoeType</a:t>
            </a:r>
            <a:r>
              <a:rPr lang="en-US" sz="1200" b="0" i="0" dirty="0">
                <a:solidFill>
                  <a:schemeClr val="tx1"/>
                </a:solidFill>
                <a:effectLst/>
                <a:latin typeface="SCE-PS3 Rodin LATIN" panose="02000700000000000000" pitchFamily="2" charset="0"/>
              </a:rPr>
              <a:t> IS NULL / COUNT of all listings) × 100</a:t>
            </a:r>
          </a:p>
          <a:p>
            <a:pPr marL="285750" indent="-285750" algn="l">
              <a:buFont typeface="+mj-lt"/>
              <a:buAutoNum type="arabicPeriod"/>
            </a:pPr>
            <a:r>
              <a:rPr lang="en-US" sz="1200" b="1" i="0" dirty="0">
                <a:solidFill>
                  <a:schemeClr val="tx1"/>
                </a:solidFill>
                <a:effectLst/>
                <a:latin typeface="SCE-PS3 Rodin LATIN" panose="02000700000000000000" pitchFamily="2" charset="0"/>
              </a:rPr>
              <a:t>Customer Name Mismatches (Consistency &amp; Accuracy Issue)</a:t>
            </a:r>
            <a:endParaRPr lang="en-US" sz="1200" b="0" i="0" dirty="0">
              <a:solidFill>
                <a:schemeClr val="tx1"/>
              </a:solidFill>
              <a:effectLst/>
              <a:latin typeface="SCE-PS3 Rodin LATIN" panose="02000700000000000000" pitchFamily="2" charset="0"/>
            </a:endParaRPr>
          </a:p>
          <a:p>
            <a:pPr marL="742950" lvl="1" indent="-285750" algn="l">
              <a:buFont typeface="Arial" panose="020B0604020202020204" pitchFamily="34" charset="0"/>
              <a:buChar char="•"/>
            </a:pPr>
            <a:r>
              <a:rPr lang="en-US" sz="1200" b="0" i="0" dirty="0">
                <a:solidFill>
                  <a:schemeClr val="tx1"/>
                </a:solidFill>
                <a:effectLst/>
                <a:latin typeface="SCE-PS3 Rodin LATIN" panose="02000700000000000000" pitchFamily="2" charset="0"/>
              </a:rPr>
              <a:t>Customer Service names don't match User Service—3.8% discrepancy rate</a:t>
            </a:r>
          </a:p>
          <a:p>
            <a:pPr marL="742950" lvl="1" indent="-285750" algn="l">
              <a:buFont typeface="Arial" panose="020B0604020202020204" pitchFamily="34" charset="0"/>
              <a:buChar char="•"/>
            </a:pPr>
            <a:r>
              <a:rPr lang="en-US" sz="1200" b="0" i="0" dirty="0">
                <a:solidFill>
                  <a:schemeClr val="tx1"/>
                </a:solidFill>
                <a:effectLst/>
                <a:latin typeface="SCE-PS3 Rodin LATIN" panose="02000700000000000000" pitchFamily="2" charset="0"/>
              </a:rPr>
              <a:t>Example: </a:t>
            </a:r>
            <a:r>
              <a:rPr lang="en-US" sz="1200" b="0" i="0" dirty="0" err="1">
                <a:solidFill>
                  <a:schemeClr val="tx1"/>
                </a:solidFill>
                <a:effectLst/>
                <a:latin typeface="SCE-PS3 Rodin LATIN" panose="02000700000000000000" pitchFamily="2" charset="0"/>
              </a:rPr>
              <a:t>UserID</a:t>
            </a:r>
            <a:r>
              <a:rPr lang="en-US" sz="1200" b="0" i="0" dirty="0">
                <a:solidFill>
                  <a:schemeClr val="tx1"/>
                </a:solidFill>
                <a:effectLst/>
                <a:latin typeface="SCE-PS3 Rodin LATIN" panose="02000700000000000000" pitchFamily="2" charset="0"/>
              </a:rPr>
              <a:t> 3586 shows "</a:t>
            </a:r>
            <a:r>
              <a:rPr lang="en-US" sz="1200" b="0" i="0" dirty="0" err="1">
                <a:solidFill>
                  <a:schemeClr val="tx1"/>
                </a:solidFill>
                <a:effectLst/>
                <a:latin typeface="SCE-PS3 Rodin LATIN" panose="02000700000000000000" pitchFamily="2" charset="0"/>
              </a:rPr>
              <a:t>Vamderheydem</a:t>
            </a:r>
            <a:r>
              <a:rPr lang="en-US" sz="1200" b="0" i="0" dirty="0">
                <a:solidFill>
                  <a:schemeClr val="tx1"/>
                </a:solidFill>
                <a:effectLst/>
                <a:latin typeface="SCE-PS3 Rodin LATIN" panose="02000700000000000000" pitchFamily="2" charset="0"/>
              </a:rPr>
              <a:t>" in CS (line 2380) vs "Vanderheyden" in users (line 129)</a:t>
            </a:r>
          </a:p>
          <a:p>
            <a:pPr marL="742950" lvl="1" indent="-285750" algn="l">
              <a:buFont typeface="Arial" panose="020B0604020202020204" pitchFamily="34" charset="0"/>
              <a:buChar char="•"/>
            </a:pPr>
            <a:r>
              <a:rPr lang="en-US" sz="1200" b="1" i="0" dirty="0">
                <a:solidFill>
                  <a:schemeClr val="tx1"/>
                </a:solidFill>
                <a:effectLst/>
                <a:latin typeface="SCE-PS3 Rodin LATIN" panose="02000700000000000000" pitchFamily="2" charset="0"/>
              </a:rPr>
              <a:t>Impact</a:t>
            </a:r>
            <a:r>
              <a:rPr lang="en-US" sz="1200" b="0" i="0" dirty="0">
                <a:solidFill>
                  <a:schemeClr val="tx1"/>
                </a:solidFill>
                <a:effectLst/>
                <a:latin typeface="SCE-PS3 Rodin LATIN" panose="02000700000000000000" pitchFamily="2" charset="0"/>
              </a:rPr>
              <a:t>: MDM issue causing customer confusion and service delays</a:t>
            </a:r>
          </a:p>
          <a:p>
            <a:pPr marL="742950" lvl="1" indent="-285750" algn="l">
              <a:buFont typeface="Arial" panose="020B0604020202020204" pitchFamily="34" charset="0"/>
              <a:buChar char="•"/>
            </a:pPr>
            <a:r>
              <a:rPr lang="en-US" sz="1200" b="1" i="0" dirty="0">
                <a:solidFill>
                  <a:schemeClr val="tx1"/>
                </a:solidFill>
                <a:effectLst/>
                <a:latin typeface="SCE-PS3 Rodin LATIN" panose="02000700000000000000" pitchFamily="2" charset="0"/>
              </a:rPr>
              <a:t>DQ Rule</a:t>
            </a:r>
            <a:r>
              <a:rPr lang="en-US" sz="1200" b="0" i="0" dirty="0">
                <a:solidFill>
                  <a:schemeClr val="tx1"/>
                </a:solidFill>
                <a:effectLst/>
                <a:latin typeface="SCE-PS3 Rodin LATIN" panose="02000700000000000000" pitchFamily="2" charset="0"/>
              </a:rPr>
              <a:t>: A customer's name in any system must exactly match the User Service system of record</a:t>
            </a:r>
          </a:p>
          <a:p>
            <a:pPr marL="742950" lvl="1" indent="-285750" algn="l">
              <a:buFont typeface="Arial" panose="020B0604020202020204" pitchFamily="34" charset="0"/>
              <a:buChar char="•"/>
            </a:pPr>
            <a:r>
              <a:rPr lang="en-US" sz="1200" b="1" i="0" dirty="0">
                <a:solidFill>
                  <a:schemeClr val="tx1"/>
                </a:solidFill>
                <a:effectLst/>
                <a:latin typeface="SCE-PS3 Rodin LATIN" panose="02000700000000000000" pitchFamily="2" charset="0"/>
              </a:rPr>
              <a:t>Metric</a:t>
            </a:r>
            <a:r>
              <a:rPr lang="en-US" sz="1200" b="0" i="0" dirty="0">
                <a:solidFill>
                  <a:schemeClr val="tx1"/>
                </a:solidFill>
                <a:effectLst/>
                <a:latin typeface="SCE-PS3 Rodin LATIN" panose="02000700000000000000" pitchFamily="2" charset="0"/>
              </a:rPr>
              <a:t>: COUNT of CS requests where FirstName or LastName ≠ </a:t>
            </a:r>
            <a:r>
              <a:rPr lang="en-US" sz="1200" b="0" i="0" dirty="0" err="1">
                <a:solidFill>
                  <a:schemeClr val="tx1"/>
                </a:solidFill>
                <a:effectLst/>
                <a:latin typeface="SCE-PS3 Rodin LATIN" panose="02000700000000000000" pitchFamily="2" charset="0"/>
              </a:rPr>
              <a:t>usr.users</a:t>
            </a:r>
            <a:r>
              <a:rPr lang="en-US" sz="1200" b="0" i="0" dirty="0">
                <a:solidFill>
                  <a:schemeClr val="tx1"/>
                </a:solidFill>
                <a:effectLst/>
                <a:latin typeface="SCE-PS3 Rodin LATIN" panose="02000700000000000000" pitchFamily="2" charset="0"/>
              </a:rPr>
              <a:t> for same </a:t>
            </a:r>
            <a:r>
              <a:rPr lang="en-US" sz="1200" b="0" i="0" dirty="0" err="1">
                <a:solidFill>
                  <a:schemeClr val="tx1"/>
                </a:solidFill>
                <a:effectLst/>
                <a:latin typeface="SCE-PS3 Rodin LATIN" panose="02000700000000000000" pitchFamily="2" charset="0"/>
              </a:rPr>
              <a:t>UserID</a:t>
            </a:r>
            <a:endParaRPr lang="en-US" sz="1200" b="0" i="0" dirty="0">
              <a:solidFill>
                <a:schemeClr val="tx1"/>
              </a:solidFill>
              <a:effectLst/>
              <a:latin typeface="SCE-PS3 Rodin LATIN" panose="02000700000000000000" pitchFamily="2" charset="0"/>
            </a:endParaRPr>
          </a:p>
          <a:p>
            <a:pPr marL="285750" indent="-285750" algn="l">
              <a:buFont typeface="+mj-lt"/>
              <a:buAutoNum type="arabicPeriod"/>
            </a:pPr>
            <a:r>
              <a:rPr lang="en-US" sz="1200" b="1" i="0" dirty="0">
                <a:solidFill>
                  <a:schemeClr val="tx1"/>
                </a:solidFill>
                <a:effectLst/>
                <a:latin typeface="SCE-PS3 Rodin LATIN" panose="02000700000000000000" pitchFamily="2" charset="0"/>
              </a:rPr>
              <a:t>Invalid Shoe Size Values (Validity &amp; Accuracy Issue)</a:t>
            </a:r>
            <a:endParaRPr lang="en-US" sz="1200" b="0" i="0" dirty="0">
              <a:solidFill>
                <a:schemeClr val="tx1"/>
              </a:solidFill>
              <a:effectLst/>
              <a:latin typeface="SCE-PS3 Rodin LATIN" panose="02000700000000000000" pitchFamily="2" charset="0"/>
            </a:endParaRPr>
          </a:p>
          <a:p>
            <a:pPr marL="742950" lvl="1" indent="-285750" algn="l">
              <a:buFont typeface="Arial" panose="020B0604020202020204" pitchFamily="34" charset="0"/>
              <a:buChar char="•"/>
            </a:pPr>
            <a:r>
              <a:rPr lang="en-US" sz="1200" b="0" i="0" dirty="0">
                <a:solidFill>
                  <a:schemeClr val="tx1"/>
                </a:solidFill>
                <a:effectLst/>
                <a:latin typeface="SCE-PS3 Rodin LATIN" panose="02000700000000000000" pitchFamily="2" charset="0"/>
              </a:rPr>
              <a:t>0.2% of listings have size = '0' which is impossible (e.g., </a:t>
            </a:r>
            <a:r>
              <a:rPr lang="en-US" sz="1200" b="0" i="0" dirty="0" err="1">
                <a:solidFill>
                  <a:schemeClr val="tx1"/>
                </a:solidFill>
                <a:effectLst/>
                <a:latin typeface="SCE-PS3 Rodin LATIN" panose="02000700000000000000" pitchFamily="2" charset="0"/>
              </a:rPr>
              <a:t>ListingID</a:t>
            </a:r>
            <a:r>
              <a:rPr lang="en-US" sz="1200" b="0" i="0" dirty="0">
                <a:solidFill>
                  <a:schemeClr val="tx1"/>
                </a:solidFill>
                <a:effectLst/>
                <a:latin typeface="SCE-PS3 Rodin LATIN" panose="02000700000000000000" pitchFamily="2" charset="0"/>
              </a:rPr>
              <a:t> 780492, line 1730)</a:t>
            </a:r>
          </a:p>
          <a:p>
            <a:pPr marL="742950" lvl="1" indent="-285750" algn="l">
              <a:buFont typeface="Arial" panose="020B0604020202020204" pitchFamily="34" charset="0"/>
              <a:buChar char="•"/>
            </a:pPr>
            <a:r>
              <a:rPr lang="en-US" sz="1200" b="0" i="0" dirty="0">
                <a:solidFill>
                  <a:schemeClr val="tx1"/>
                </a:solidFill>
                <a:effectLst/>
                <a:latin typeface="SCE-PS3 Rodin LATIN" panose="02000700000000000000" pitchFamily="2" charset="0"/>
              </a:rPr>
              <a:t>Valid sizes range from 0.5 (infant) to 22 (adult)</a:t>
            </a:r>
          </a:p>
          <a:p>
            <a:pPr marL="742950" lvl="1" indent="-285750" algn="l">
              <a:buFont typeface="Arial" panose="020B0604020202020204" pitchFamily="34" charset="0"/>
              <a:buChar char="•"/>
            </a:pPr>
            <a:r>
              <a:rPr lang="en-US" sz="1200" b="1" i="0" dirty="0">
                <a:solidFill>
                  <a:schemeClr val="tx1"/>
                </a:solidFill>
                <a:effectLst/>
                <a:latin typeface="SCE-PS3 Rodin LATIN" panose="02000700000000000000" pitchFamily="2" charset="0"/>
              </a:rPr>
              <a:t>Impact</a:t>
            </a:r>
            <a:r>
              <a:rPr lang="en-US" sz="1200" b="0" i="0" dirty="0">
                <a:solidFill>
                  <a:schemeClr val="tx1"/>
                </a:solidFill>
                <a:effectLst/>
                <a:latin typeface="SCE-PS3 Rodin LATIN" panose="02000700000000000000" pitchFamily="2" charset="0"/>
              </a:rPr>
              <a:t>: Incorrect product information, customer returns</a:t>
            </a:r>
          </a:p>
          <a:p>
            <a:pPr marL="742950" lvl="1" indent="-285750" algn="l">
              <a:buFont typeface="Arial" panose="020B0604020202020204" pitchFamily="34" charset="0"/>
              <a:buChar char="•"/>
            </a:pPr>
            <a:r>
              <a:rPr lang="en-US" sz="1200" b="1" i="0" dirty="0">
                <a:solidFill>
                  <a:schemeClr val="tx1"/>
                </a:solidFill>
                <a:effectLst/>
                <a:latin typeface="SCE-PS3 Rodin LATIN" panose="02000700000000000000" pitchFamily="2" charset="0"/>
              </a:rPr>
              <a:t>DQ Rule</a:t>
            </a:r>
            <a:r>
              <a:rPr lang="en-US" sz="1200" b="0" i="0" dirty="0">
                <a:solidFill>
                  <a:schemeClr val="tx1"/>
                </a:solidFill>
                <a:effectLst/>
                <a:latin typeface="SCE-PS3 Rodin LATIN" panose="02000700000000000000" pitchFamily="2" charset="0"/>
              </a:rPr>
              <a:t>: Every shoe listing must have a valid size between 0.5 and 22</a:t>
            </a:r>
          </a:p>
          <a:p>
            <a:pPr marL="742950" lvl="1" indent="-285750" algn="l">
              <a:buFont typeface="Arial" panose="020B0604020202020204" pitchFamily="34" charset="0"/>
              <a:buChar char="•"/>
            </a:pPr>
            <a:r>
              <a:rPr lang="en-US" sz="1200" b="1" i="0" dirty="0">
                <a:solidFill>
                  <a:schemeClr val="tx1"/>
                </a:solidFill>
                <a:effectLst/>
                <a:latin typeface="SCE-PS3 Rodin LATIN" panose="02000700000000000000" pitchFamily="2" charset="0"/>
              </a:rPr>
              <a:t>Metric</a:t>
            </a:r>
            <a:r>
              <a:rPr lang="en-US" sz="1200" b="0" i="0" dirty="0">
                <a:solidFill>
                  <a:schemeClr val="tx1"/>
                </a:solidFill>
                <a:effectLst/>
                <a:latin typeface="SCE-PS3 Rodin LATIN" panose="02000700000000000000" pitchFamily="2" charset="0"/>
              </a:rPr>
              <a:t>: COUNT of listings WHERE Size = '0' OR Size NOT BETWEEN 0.5 AND 22</a:t>
            </a:r>
          </a:p>
          <a:p>
            <a:pPr marL="285750" indent="-285750" algn="l">
              <a:buFont typeface="+mj-lt"/>
              <a:buAutoNum type="arabicPeriod"/>
            </a:pPr>
            <a:r>
              <a:rPr lang="en-US" sz="1200" b="1" i="0" dirty="0">
                <a:solidFill>
                  <a:schemeClr val="tx1"/>
                </a:solidFill>
                <a:effectLst/>
                <a:latin typeface="SCE-PS3 Rodin LATIN" panose="02000700000000000000" pitchFamily="2" charset="0"/>
              </a:rPr>
              <a:t>Missing Arrival Dates (Completeness &amp; Timeliness Issue)</a:t>
            </a:r>
            <a:endParaRPr lang="en-US" sz="1200" b="0" i="0" dirty="0">
              <a:solidFill>
                <a:schemeClr val="tx1"/>
              </a:solidFill>
              <a:effectLst/>
              <a:latin typeface="SCE-PS3 Rodin LATIN" panose="02000700000000000000" pitchFamily="2" charset="0"/>
            </a:endParaRPr>
          </a:p>
          <a:p>
            <a:pPr marL="742950" lvl="1" indent="-285750" algn="l">
              <a:buFont typeface="Arial" panose="020B0604020202020204" pitchFamily="34" charset="0"/>
              <a:buChar char="•"/>
            </a:pPr>
            <a:r>
              <a:rPr lang="en-US" sz="1200" b="0" i="0" dirty="0">
                <a:solidFill>
                  <a:schemeClr val="tx1"/>
                </a:solidFill>
                <a:effectLst/>
                <a:latin typeface="SCE-PS3 Rodin LATIN" panose="02000700000000000000" pitchFamily="2" charset="0"/>
              </a:rPr>
              <a:t>8.7% of warehouse items missing </a:t>
            </a:r>
            <a:r>
              <a:rPr lang="en-US" sz="1200" b="0" i="0" dirty="0" err="1">
                <a:solidFill>
                  <a:schemeClr val="tx1"/>
                </a:solidFill>
                <a:effectLst/>
                <a:latin typeface="SCE-PS3 Rodin LATIN" panose="02000700000000000000" pitchFamily="2" charset="0"/>
              </a:rPr>
              <a:t>ArrivalDate</a:t>
            </a:r>
            <a:r>
              <a:rPr lang="en-US" sz="1200" b="0" i="0" dirty="0">
                <a:solidFill>
                  <a:schemeClr val="tx1"/>
                </a:solidFill>
                <a:effectLst/>
                <a:latin typeface="SCE-PS3 Rodin LATIN" panose="02000700000000000000" pitchFamily="2" charset="0"/>
              </a:rPr>
              <a:t> (e.g., </a:t>
            </a:r>
            <a:r>
              <a:rPr lang="en-US" sz="1200" b="0" i="0" dirty="0" err="1">
                <a:solidFill>
                  <a:schemeClr val="tx1"/>
                </a:solidFill>
                <a:effectLst/>
                <a:latin typeface="SCE-PS3 Rodin LATIN" panose="02000700000000000000" pitchFamily="2" charset="0"/>
              </a:rPr>
              <a:t>ItemID</a:t>
            </a:r>
            <a:r>
              <a:rPr lang="en-US" sz="1200" b="0" i="0" dirty="0">
                <a:solidFill>
                  <a:schemeClr val="tx1"/>
                </a:solidFill>
                <a:effectLst/>
                <a:latin typeface="SCE-PS3 Rodin LATIN" panose="02000700000000000000" pitchFamily="2" charset="0"/>
              </a:rPr>
              <a:t> 46646, line 527)</a:t>
            </a:r>
          </a:p>
          <a:p>
            <a:pPr marL="742950" lvl="1" indent="-285750" algn="l">
              <a:buFont typeface="Arial" panose="020B0604020202020204" pitchFamily="34" charset="0"/>
              <a:buChar char="•"/>
            </a:pPr>
            <a:r>
              <a:rPr lang="en-US" sz="1200" b="1" i="0" dirty="0">
                <a:solidFill>
                  <a:schemeClr val="tx1"/>
                </a:solidFill>
                <a:effectLst/>
                <a:latin typeface="SCE-PS3 Rodin LATIN" panose="02000700000000000000" pitchFamily="2" charset="0"/>
              </a:rPr>
              <a:t>Impact</a:t>
            </a:r>
            <a:r>
              <a:rPr lang="en-US" sz="1200" b="0" i="0" dirty="0">
                <a:solidFill>
                  <a:schemeClr val="tx1"/>
                </a:solidFill>
                <a:effectLst/>
                <a:latin typeface="SCE-PS3 Rodin LATIN" panose="02000700000000000000" pitchFamily="2" charset="0"/>
              </a:rPr>
              <a:t>: Cannot enforce 45-day listing deadline—items may expire without warning</a:t>
            </a:r>
          </a:p>
          <a:p>
            <a:pPr marL="742950" lvl="1" indent="-285750" algn="l">
              <a:buFont typeface="Arial" panose="020B0604020202020204" pitchFamily="34" charset="0"/>
              <a:buChar char="•"/>
            </a:pPr>
            <a:r>
              <a:rPr lang="en-US" sz="1200" b="1" i="0" dirty="0">
                <a:solidFill>
                  <a:schemeClr val="tx1"/>
                </a:solidFill>
                <a:effectLst/>
                <a:latin typeface="SCE-PS3 Rodin LATIN" panose="02000700000000000000" pitchFamily="2" charset="0"/>
              </a:rPr>
              <a:t>DQ Rule</a:t>
            </a:r>
            <a:r>
              <a:rPr lang="en-US" sz="1200" b="0" i="0" dirty="0">
                <a:solidFill>
                  <a:schemeClr val="tx1"/>
                </a:solidFill>
                <a:effectLst/>
                <a:latin typeface="SCE-PS3 Rodin LATIN" panose="02000700000000000000" pitchFamily="2" charset="0"/>
              </a:rPr>
              <a:t>: Every item received at warehouse must have arrival date recorded to track 45-day deadline</a:t>
            </a:r>
          </a:p>
          <a:p>
            <a:pPr marL="742950" lvl="1" indent="-285750" algn="l">
              <a:buFont typeface="Arial" panose="020B0604020202020204" pitchFamily="34" charset="0"/>
              <a:buChar char="•"/>
            </a:pPr>
            <a:r>
              <a:rPr lang="en-US" sz="1200" b="1" i="0" dirty="0">
                <a:solidFill>
                  <a:schemeClr val="tx1"/>
                </a:solidFill>
                <a:effectLst/>
                <a:latin typeface="SCE-PS3 Rodin LATIN" panose="02000700000000000000" pitchFamily="2" charset="0"/>
              </a:rPr>
              <a:t>Metric</a:t>
            </a:r>
            <a:r>
              <a:rPr lang="en-US" sz="1200" b="0" i="0" dirty="0">
                <a:solidFill>
                  <a:schemeClr val="tx1"/>
                </a:solidFill>
                <a:effectLst/>
                <a:latin typeface="SCE-PS3 Rodin LATIN" panose="02000700000000000000" pitchFamily="2" charset="0"/>
              </a:rPr>
              <a:t>: (COUNT of items where </a:t>
            </a:r>
            <a:r>
              <a:rPr lang="en-US" sz="1200" b="0" i="0" dirty="0" err="1">
                <a:solidFill>
                  <a:schemeClr val="tx1"/>
                </a:solidFill>
                <a:effectLst/>
                <a:latin typeface="SCE-PS3 Rodin LATIN" panose="02000700000000000000" pitchFamily="2" charset="0"/>
              </a:rPr>
              <a:t>ArrivalDate</a:t>
            </a:r>
            <a:r>
              <a:rPr lang="en-US" sz="1200" b="0" i="0" dirty="0">
                <a:solidFill>
                  <a:schemeClr val="tx1"/>
                </a:solidFill>
                <a:effectLst/>
                <a:latin typeface="SCE-PS3 Rodin LATIN" panose="02000700000000000000" pitchFamily="2" charset="0"/>
              </a:rPr>
              <a:t> IS NULL / COUNT of all items) × 100</a:t>
            </a:r>
          </a:p>
          <a:p>
            <a:pPr algn="l"/>
            <a:endParaRPr lang="en-US" sz="1200" b="1" dirty="0">
              <a:solidFill>
                <a:schemeClr val="tx1"/>
              </a:solidFill>
              <a:latin typeface="SCE-PS3 Rodin LATIN" panose="02000700000000000000" pitchFamily="2" charset="0"/>
            </a:endParaRPr>
          </a:p>
          <a:p>
            <a:pPr marL="228600" indent="-228600" algn="l">
              <a:buFont typeface="+mj-lt"/>
              <a:buAutoNum type="arabicPeriod"/>
            </a:pPr>
            <a:r>
              <a:rPr lang="en-US" sz="1200" b="1" i="0" dirty="0">
                <a:solidFill>
                  <a:schemeClr val="tx1"/>
                </a:solidFill>
                <a:effectLst/>
                <a:latin typeface="SCE-PS3 Rodin LATIN" panose="02000700000000000000" pitchFamily="2" charset="0"/>
              </a:rPr>
              <a:t>Future/Preventive Issue (1):</a:t>
            </a:r>
            <a:endParaRPr lang="en-US" sz="1200" b="0" i="0" dirty="0">
              <a:solidFill>
                <a:schemeClr val="tx1"/>
              </a:solidFill>
              <a:effectLst/>
              <a:latin typeface="SCE-PS3 Rodin LATIN" panose="02000700000000000000" pitchFamily="2" charset="0"/>
            </a:endParaRPr>
          </a:p>
          <a:p>
            <a:pPr marL="285750" indent="-285750" algn="l">
              <a:buFont typeface="Arial" panose="020B0604020202020204" pitchFamily="34" charset="0"/>
              <a:buChar char="•"/>
            </a:pPr>
            <a:r>
              <a:rPr lang="en-US" sz="1200" b="1" i="0" dirty="0">
                <a:solidFill>
                  <a:schemeClr val="tx1"/>
                </a:solidFill>
                <a:effectLst/>
                <a:latin typeface="SCE-PS3 Rodin LATIN" panose="02000700000000000000" pitchFamily="2" charset="0"/>
              </a:rPr>
              <a:t>Risk of Duplicate User Accounts (Uniqueness Issue)</a:t>
            </a:r>
            <a:endParaRPr lang="en-US" sz="1200" b="0" i="0" dirty="0">
              <a:solidFill>
                <a:schemeClr val="tx1"/>
              </a:solidFill>
              <a:effectLst/>
              <a:latin typeface="SCE-PS3 Rodin LATIN" panose="02000700000000000000" pitchFamily="2" charset="0"/>
            </a:endParaRPr>
          </a:p>
          <a:p>
            <a:pPr marL="742950" lvl="1" indent="-285750" algn="l">
              <a:buFont typeface="Arial" panose="020B0604020202020204" pitchFamily="34" charset="0"/>
              <a:buChar char="•"/>
            </a:pPr>
            <a:r>
              <a:rPr lang="en-US" sz="1200" b="0" i="0" dirty="0">
                <a:solidFill>
                  <a:schemeClr val="tx1"/>
                </a:solidFill>
                <a:effectLst/>
                <a:latin typeface="SCE-PS3 Rodin LATIN" panose="02000700000000000000" pitchFamily="2" charset="0"/>
              </a:rPr>
              <a:t>Potential for users creating multiple accounts with slight email/name variations</a:t>
            </a:r>
          </a:p>
          <a:p>
            <a:pPr marL="742950" lvl="1" indent="-285750" algn="l">
              <a:buFont typeface="Arial" panose="020B0604020202020204" pitchFamily="34" charset="0"/>
              <a:buChar char="•"/>
            </a:pPr>
            <a:r>
              <a:rPr lang="en-US" sz="1200" b="0" i="0" dirty="0">
                <a:solidFill>
                  <a:schemeClr val="tx1"/>
                </a:solidFill>
                <a:effectLst/>
                <a:latin typeface="SCE-PS3 Rodin LATIN" panose="02000700000000000000" pitchFamily="2" charset="0"/>
              </a:rPr>
              <a:t>Example scenarios: </a:t>
            </a:r>
            <a:r>
              <a:rPr lang="en-US" sz="1200" b="0" i="0" dirty="0">
                <a:solidFill>
                  <a:schemeClr val="tx1"/>
                </a:solidFill>
                <a:effectLst/>
                <a:latin typeface="SCE-PS3 Rodin LATIN" panose="02000700000000000000" pitchFamily="2" charset="0"/>
                <a:hlinkClick r:id="rId3">
                  <a:extLst>
                    <a:ext uri="{A12FA001-AC4F-418D-AE19-62706E023703}">
                      <ahyp:hlinkClr xmlns:ahyp="http://schemas.microsoft.com/office/drawing/2018/hyperlinkcolor" val="tx"/>
                    </a:ext>
                  </a:extLst>
                </a:hlinkClick>
              </a:rPr>
              <a:t>john.smith@gmail.com</a:t>
            </a:r>
            <a:r>
              <a:rPr lang="en-US" sz="1200" b="0" i="0" dirty="0">
                <a:solidFill>
                  <a:schemeClr val="tx1"/>
                </a:solidFill>
                <a:effectLst/>
                <a:latin typeface="SCE-PS3 Rodin LATIN" panose="02000700000000000000" pitchFamily="2" charset="0"/>
              </a:rPr>
              <a:t> vs </a:t>
            </a:r>
            <a:r>
              <a:rPr lang="en-US" sz="1200" b="0" i="0" dirty="0">
                <a:solidFill>
                  <a:schemeClr val="tx1"/>
                </a:solidFill>
                <a:effectLst/>
                <a:latin typeface="SCE-PS3 Rodin LATIN" panose="02000700000000000000" pitchFamily="2" charset="0"/>
                <a:hlinkClick r:id="rId4">
                  <a:extLst>
                    <a:ext uri="{A12FA001-AC4F-418D-AE19-62706E023703}">
                      <ahyp:hlinkClr xmlns:ahyp="http://schemas.microsoft.com/office/drawing/2018/hyperlinkcolor" val="tx"/>
                    </a:ext>
                  </a:extLst>
                </a:hlinkClick>
              </a:rPr>
              <a:t>john.smith@yahoo.com</a:t>
            </a:r>
            <a:r>
              <a:rPr lang="en-US" sz="1200" b="0" i="0" dirty="0">
                <a:solidFill>
                  <a:schemeClr val="tx1"/>
                </a:solidFill>
                <a:effectLst/>
                <a:latin typeface="SCE-PS3 Rodin LATIN" panose="02000700000000000000" pitchFamily="2" charset="0"/>
              </a:rPr>
              <a:t>, or "Robert Johnson" vs "Rob Johnson" at same address</a:t>
            </a:r>
          </a:p>
          <a:p>
            <a:pPr marL="742950" lvl="1" indent="-285750" algn="l">
              <a:buFont typeface="Arial" panose="020B0604020202020204" pitchFamily="34" charset="0"/>
              <a:buChar char="•"/>
            </a:pPr>
            <a:r>
              <a:rPr lang="en-US" sz="1200" b="1" i="0" dirty="0">
                <a:solidFill>
                  <a:schemeClr val="tx1"/>
                </a:solidFill>
                <a:effectLst/>
                <a:latin typeface="SCE-PS3 Rodin LATIN" panose="02000700000000000000" pitchFamily="2" charset="0"/>
              </a:rPr>
              <a:t>Impact</a:t>
            </a:r>
            <a:r>
              <a:rPr lang="en-US" sz="1200" b="0" i="0" dirty="0">
                <a:solidFill>
                  <a:schemeClr val="tx1"/>
                </a:solidFill>
                <a:effectLst/>
                <a:latin typeface="SCE-PS3 Rodin LATIN" panose="02000700000000000000" pitchFamily="2" charset="0"/>
              </a:rPr>
              <a:t>: Fragmented customer history, potential fraud, inaccurate analytics</a:t>
            </a:r>
          </a:p>
          <a:p>
            <a:pPr marL="742950" lvl="1" indent="-285750" algn="l">
              <a:buFont typeface="Arial" panose="020B0604020202020204" pitchFamily="34" charset="0"/>
              <a:buChar char="•"/>
            </a:pPr>
            <a:r>
              <a:rPr lang="en-US" sz="1200" b="1" i="0" dirty="0">
                <a:solidFill>
                  <a:schemeClr val="tx1"/>
                </a:solidFill>
                <a:effectLst/>
                <a:latin typeface="SCE-PS3 Rodin LATIN" panose="02000700000000000000" pitchFamily="2" charset="0"/>
              </a:rPr>
              <a:t>DQ Rule</a:t>
            </a:r>
            <a:r>
              <a:rPr lang="en-US" sz="1200" b="0" i="0" dirty="0">
                <a:solidFill>
                  <a:schemeClr val="tx1"/>
                </a:solidFill>
                <a:effectLst/>
                <a:latin typeface="SCE-PS3 Rodin LATIN" panose="02000700000000000000" pitchFamily="2" charset="0"/>
              </a:rPr>
              <a:t>: Each person should have only one user account to maintain accurate customer history and prevent fraud</a:t>
            </a:r>
          </a:p>
          <a:p>
            <a:pPr marL="742950" lvl="1" indent="-285750" algn="l">
              <a:buFont typeface="Arial" panose="020B0604020202020204" pitchFamily="34" charset="0"/>
              <a:buChar char="•"/>
            </a:pPr>
            <a:r>
              <a:rPr lang="en-US" sz="1200" b="1" i="0" dirty="0">
                <a:solidFill>
                  <a:schemeClr val="tx1"/>
                </a:solidFill>
                <a:effectLst/>
                <a:latin typeface="SCE-PS3 Rodin LATIN" panose="02000700000000000000" pitchFamily="2" charset="0"/>
              </a:rPr>
              <a:t>Metric</a:t>
            </a:r>
            <a:r>
              <a:rPr lang="en-US" sz="1200" b="0" i="0" dirty="0">
                <a:solidFill>
                  <a:schemeClr val="tx1"/>
                </a:solidFill>
                <a:effectLst/>
                <a:latin typeface="SCE-PS3 Rodin LATIN" panose="02000700000000000000" pitchFamily="2" charset="0"/>
              </a:rPr>
              <a:t>: COUNT of user pairs WHERE (same email domain + similar name) OR (same address + similar name)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56"/>
        <p:cNvGrpSpPr/>
        <p:nvPr/>
      </p:nvGrpSpPr>
      <p:grpSpPr>
        <a:xfrm>
          <a:off x="0" y="0"/>
          <a:ext cx="0" cy="0"/>
          <a:chOff x="0" y="0"/>
          <a:chExt cx="0" cy="0"/>
        </a:xfrm>
      </p:grpSpPr>
      <p:sp>
        <p:nvSpPr>
          <p:cNvPr id="257" name="Google Shape;257;p63"/>
          <p:cNvSpPr/>
          <p:nvPr/>
        </p:nvSpPr>
        <p:spPr>
          <a:xfrm>
            <a:off x="1422750" y="4013075"/>
            <a:ext cx="49269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4</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Data Quality</a:t>
            </a:r>
            <a:endParaRPr sz="3000">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Part 2: Monitoring</a:t>
            </a:r>
            <a:endParaRPr sz="3000">
              <a:solidFill>
                <a:srgbClr val="FFFFFF"/>
              </a:solidFill>
              <a:latin typeface="Open Sans"/>
              <a:ea typeface="Open Sans"/>
              <a:cs typeface="Open Sans"/>
              <a:sym typeface="Open Sans"/>
            </a:endParaRPr>
          </a:p>
        </p:txBody>
      </p:sp>
      <p:sp>
        <p:nvSpPr>
          <p:cNvPr id="258" name="Google Shape;258;p63"/>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pic>
        <p:nvPicPr>
          <p:cNvPr id="11" name="Picture 10" descr="A screenshot of a computer&#10;&#10;AI-generated content may be incorrect.">
            <a:extLst>
              <a:ext uri="{FF2B5EF4-FFF2-40B4-BE49-F238E27FC236}">
                <a16:creationId xmlns:a16="http://schemas.microsoft.com/office/drawing/2014/main" id="{1A9C0748-DF95-BCE2-8716-E303A1E72EF2}"/>
              </a:ext>
            </a:extLst>
          </p:cNvPr>
          <p:cNvPicPr>
            <a:picLocks noChangeAspect="1"/>
          </p:cNvPicPr>
          <p:nvPr/>
        </p:nvPicPr>
        <p:blipFill>
          <a:blip r:embed="rId3"/>
          <a:stretch>
            <a:fillRect/>
          </a:stretch>
        </p:blipFill>
        <p:spPr>
          <a:xfrm>
            <a:off x="0" y="0"/>
            <a:ext cx="7772400" cy="100584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68"/>
        <p:cNvGrpSpPr/>
        <p:nvPr/>
      </p:nvGrpSpPr>
      <p:grpSpPr>
        <a:xfrm>
          <a:off x="0" y="0"/>
          <a:ext cx="0" cy="0"/>
          <a:chOff x="0" y="0"/>
          <a:chExt cx="0" cy="0"/>
        </a:xfrm>
      </p:grpSpPr>
      <p:sp>
        <p:nvSpPr>
          <p:cNvPr id="269" name="Google Shape;269;p65"/>
          <p:cNvSpPr/>
          <p:nvPr/>
        </p:nvSpPr>
        <p:spPr>
          <a:xfrm>
            <a:off x="539850" y="4051175"/>
            <a:ext cx="66927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5</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Master Data Management</a:t>
            </a:r>
            <a:endParaRPr sz="3000">
              <a:solidFill>
                <a:srgbClr val="FFFFFF"/>
              </a:solidFill>
              <a:latin typeface="Open Sans"/>
              <a:ea typeface="Open Sans"/>
              <a:cs typeface="Open Sans"/>
              <a:sym typeface="Open Sans"/>
            </a:endParaRPr>
          </a:p>
          <a:p>
            <a:pPr marL="0" lvl="0" indent="0" algn="ctr" rtl="0">
              <a:lnSpc>
                <a:spcPct val="150000"/>
              </a:lnSpc>
              <a:spcBef>
                <a:spcPts val="0"/>
              </a:spcBef>
              <a:spcAft>
                <a:spcPts val="0"/>
              </a:spcAft>
              <a:buClr>
                <a:schemeClr val="lt1"/>
              </a:buClr>
              <a:buFont typeface="Open Sans"/>
              <a:buNone/>
            </a:pPr>
            <a:r>
              <a:rPr lang="en" sz="3000">
                <a:solidFill>
                  <a:schemeClr val="lt1"/>
                </a:solidFill>
                <a:latin typeface="Open Sans"/>
                <a:ea typeface="Open Sans"/>
                <a:cs typeface="Open Sans"/>
                <a:sym typeface="Open Sans"/>
              </a:rPr>
              <a:t>Part 1: MDM Architecture</a:t>
            </a:r>
            <a:endParaRPr sz="3000">
              <a:solidFill>
                <a:srgbClr val="FFFFFF"/>
              </a:solidFill>
              <a:latin typeface="Open Sans"/>
              <a:ea typeface="Open Sans"/>
              <a:cs typeface="Open Sans"/>
              <a:sym typeface="Open Sans"/>
            </a:endParaRPr>
          </a:p>
        </p:txBody>
      </p:sp>
      <p:sp>
        <p:nvSpPr>
          <p:cNvPr id="270" name="Google Shape;270;p65"/>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pic>
        <p:nvPicPr>
          <p:cNvPr id="5" name="Picture 4" descr="A diagram of a computer&#10;&#10;AI-generated content may be incorrect.">
            <a:extLst>
              <a:ext uri="{FF2B5EF4-FFF2-40B4-BE49-F238E27FC236}">
                <a16:creationId xmlns:a16="http://schemas.microsoft.com/office/drawing/2014/main" id="{2BE32B47-2630-223F-747A-78101DB98855}"/>
              </a:ext>
            </a:extLst>
          </p:cNvPr>
          <p:cNvPicPr>
            <a:picLocks noChangeAspect="1"/>
          </p:cNvPicPr>
          <p:nvPr/>
        </p:nvPicPr>
        <p:blipFill>
          <a:blip r:embed="rId3"/>
          <a:stretch>
            <a:fillRect/>
          </a:stretch>
        </p:blipFill>
        <p:spPr>
          <a:xfrm>
            <a:off x="1524700" y="0"/>
            <a:ext cx="4723000" cy="100584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67"/>
          <p:cNvSpPr txBox="1">
            <a:spLocks noGrp="1"/>
          </p:cNvSpPr>
          <p:nvPr>
            <p:ph type="body" idx="1"/>
          </p:nvPr>
        </p:nvSpPr>
        <p:spPr>
          <a:xfrm>
            <a:off x="465150" y="524224"/>
            <a:ext cx="6911010" cy="7034815"/>
          </a:xfrm>
          <a:prstGeom prst="rect">
            <a:avLst/>
          </a:prstGeom>
        </p:spPr>
        <p:txBody>
          <a:bodyPr spcFirstLastPara="1" wrap="square" lIns="91425" tIns="91425" rIns="91425" bIns="91425" anchor="t" anchorCtr="0">
            <a:noAutofit/>
          </a:bodyPr>
          <a:lstStyle/>
          <a:p>
            <a:pPr marL="0" lvl="0" indent="0" algn="just" rtl="0">
              <a:spcBef>
                <a:spcPts val="0"/>
              </a:spcBef>
              <a:spcAft>
                <a:spcPts val="1600"/>
              </a:spcAft>
              <a:buClr>
                <a:schemeClr val="dk1"/>
              </a:buClr>
              <a:buSzPts val="1100"/>
              <a:buFont typeface="Arial"/>
              <a:buNone/>
            </a:pPr>
            <a:r>
              <a:rPr lang="en" sz="1800" b="1" dirty="0">
                <a:solidFill>
                  <a:schemeClr val="tx1"/>
                </a:solidFill>
                <a:highlight>
                  <a:schemeClr val="lt1"/>
                </a:highlight>
                <a:latin typeface="Open Sans" panose="020B0606030504020204" pitchFamily="34" charset="0"/>
                <a:ea typeface="Open Sans" panose="020B0606030504020204" pitchFamily="34" charset="0"/>
                <a:cs typeface="Open Sans" panose="020B0606030504020204" pitchFamily="34" charset="0"/>
                <a:sym typeface="Open Sans"/>
              </a:rPr>
              <a:t>Explanation: </a:t>
            </a:r>
            <a:r>
              <a:rPr lang="en-US" sz="1800" b="1" dirty="0">
                <a:solidFill>
                  <a:schemeClr val="tx1"/>
                </a:solidFill>
                <a:highlight>
                  <a:schemeClr val="lt1"/>
                </a:highlight>
                <a:latin typeface="Open Sans" panose="020B0606030504020204" pitchFamily="34" charset="0"/>
                <a:ea typeface="Open Sans" panose="020B0606030504020204" pitchFamily="34" charset="0"/>
                <a:cs typeface="Open Sans" panose="020B0606030504020204" pitchFamily="34" charset="0"/>
              </a:rPr>
              <a:t>Hybrid MDM Architecture</a:t>
            </a:r>
            <a:endParaRPr lang="en-US" sz="1800" dirty="0">
              <a:solidFill>
                <a:schemeClr val="tx1"/>
              </a:solidFill>
              <a:highlight>
                <a:schemeClr val="lt1"/>
              </a:highlight>
              <a:latin typeface="Open Sans" panose="020B0606030504020204" pitchFamily="34" charset="0"/>
              <a:ea typeface="Open Sans" panose="020B0606030504020204" pitchFamily="34" charset="0"/>
              <a:cs typeface="Open Sans" panose="020B0606030504020204" pitchFamily="34" charset="0"/>
            </a:endParaRPr>
          </a:p>
          <a:p>
            <a:pPr algn="just"/>
            <a:endParaRPr lang="en-US" sz="1200" dirty="0">
              <a:solidFill>
                <a:schemeClr val="tx1"/>
              </a:solidFill>
              <a:highlight>
                <a:schemeClr val="lt1"/>
              </a:highlight>
              <a:latin typeface="Open Sans" panose="020B0606030504020204" pitchFamily="34" charset="0"/>
              <a:ea typeface="Open Sans" panose="020B0606030504020204" pitchFamily="34" charset="0"/>
              <a:cs typeface="Open Sans" panose="020B0606030504020204" pitchFamily="34" charset="0"/>
            </a:endParaRPr>
          </a:p>
          <a:p>
            <a:pPr marL="38100" indent="0" algn="just">
              <a:buNone/>
            </a:pPr>
            <a:r>
              <a:rPr lang="en-US" sz="1600" dirty="0" err="1">
                <a:solidFill>
                  <a:schemeClr val="tx1"/>
                </a:solidFill>
                <a:highlight>
                  <a:schemeClr val="lt1"/>
                </a:highlight>
                <a:latin typeface="Open Sans" panose="020B0606030504020204" pitchFamily="34" charset="0"/>
                <a:ea typeface="Open Sans" panose="020B0606030504020204" pitchFamily="34" charset="0"/>
                <a:cs typeface="Open Sans" panose="020B0606030504020204" pitchFamily="34" charset="0"/>
              </a:rPr>
              <a:t>SneakerPark</a:t>
            </a:r>
            <a:r>
              <a:rPr lang="en-US" sz="1600" dirty="0">
                <a:solidFill>
                  <a:schemeClr val="tx1"/>
                </a:solidFill>
                <a:highlight>
                  <a:schemeClr val="lt1"/>
                </a:highlight>
                <a:latin typeface="Open Sans" panose="020B0606030504020204" pitchFamily="34" charset="0"/>
                <a:ea typeface="Open Sans" panose="020B0606030504020204" pitchFamily="34" charset="0"/>
                <a:cs typeface="Open Sans" panose="020B0606030504020204" pitchFamily="34" charset="0"/>
              </a:rPr>
              <a:t> requires a </a:t>
            </a:r>
            <a:r>
              <a:rPr lang="en-US" sz="1600" b="1" dirty="0">
                <a:solidFill>
                  <a:schemeClr val="tx1"/>
                </a:solidFill>
                <a:highlight>
                  <a:schemeClr val="lt1"/>
                </a:highlight>
                <a:latin typeface="Open Sans" panose="020B0606030504020204" pitchFamily="34" charset="0"/>
                <a:ea typeface="Open Sans" panose="020B0606030504020204" pitchFamily="34" charset="0"/>
                <a:cs typeface="Open Sans" panose="020B0606030504020204" pitchFamily="34" charset="0"/>
              </a:rPr>
              <a:t>Hybrid MDM</a:t>
            </a:r>
            <a:r>
              <a:rPr lang="en-US" sz="1600" dirty="0">
                <a:solidFill>
                  <a:schemeClr val="tx1"/>
                </a:solidFill>
                <a:highlight>
                  <a:schemeClr val="lt1"/>
                </a:highlight>
                <a:latin typeface="Open Sans" panose="020B0606030504020204" pitchFamily="34" charset="0"/>
                <a:ea typeface="Open Sans" panose="020B0606030504020204" pitchFamily="34" charset="0"/>
                <a:cs typeface="Open Sans" panose="020B0606030504020204" pitchFamily="34" charset="0"/>
              </a:rPr>
              <a:t> combining Centralized and Registry styles to balance competing needs. We recommend </a:t>
            </a:r>
            <a:r>
              <a:rPr lang="en-US" sz="1600" b="1" dirty="0">
                <a:solidFill>
                  <a:schemeClr val="tx1"/>
                </a:solidFill>
                <a:highlight>
                  <a:schemeClr val="lt1"/>
                </a:highlight>
                <a:latin typeface="Open Sans" panose="020B0606030504020204" pitchFamily="34" charset="0"/>
                <a:ea typeface="Open Sans" panose="020B0606030504020204" pitchFamily="34" charset="0"/>
                <a:cs typeface="Open Sans" panose="020B0606030504020204" pitchFamily="34" charset="0"/>
              </a:rPr>
              <a:t>Centralized MDM for Customer data</a:t>
            </a:r>
            <a:r>
              <a:rPr lang="en-US" sz="1600" dirty="0">
                <a:solidFill>
                  <a:schemeClr val="tx1"/>
                </a:solidFill>
                <a:highlight>
                  <a:schemeClr val="lt1"/>
                </a:highlight>
                <a:latin typeface="Open Sans" panose="020B0606030504020204" pitchFamily="34" charset="0"/>
                <a:ea typeface="Open Sans" panose="020B0606030504020204" pitchFamily="34" charset="0"/>
                <a:cs typeface="Open Sans" panose="020B0606030504020204" pitchFamily="34" charset="0"/>
              </a:rPr>
              <a:t> because customers appear across three systems (User Service, Customer Service, Order Processing) with critical quality issues like name mismatches and potential duplicates that require active stewardship and a single source of truth for GDPR compliance. Conversely, we recommend </a:t>
            </a:r>
            <a:r>
              <a:rPr lang="en-US" sz="1600" b="1" dirty="0">
                <a:solidFill>
                  <a:schemeClr val="tx1"/>
                </a:solidFill>
                <a:highlight>
                  <a:schemeClr val="lt1"/>
                </a:highlight>
                <a:latin typeface="Open Sans" panose="020B0606030504020204" pitchFamily="34" charset="0"/>
                <a:ea typeface="Open Sans" panose="020B0606030504020204" pitchFamily="34" charset="0"/>
                <a:cs typeface="Open Sans" panose="020B0606030504020204" pitchFamily="34" charset="0"/>
              </a:rPr>
              <a:t>Registry MDM for Item data</a:t>
            </a:r>
            <a:r>
              <a:rPr lang="en-US" sz="1600" dirty="0">
                <a:solidFill>
                  <a:schemeClr val="tx1"/>
                </a:solidFill>
                <a:highlight>
                  <a:schemeClr val="lt1"/>
                </a:highlight>
                <a:latin typeface="Open Sans" panose="020B0606030504020204" pitchFamily="34" charset="0"/>
                <a:ea typeface="Open Sans" panose="020B0606030504020204" pitchFamily="34" charset="0"/>
                <a:cs typeface="Open Sans" panose="020B0606030504020204" pitchFamily="34" charset="0"/>
              </a:rPr>
              <a:t> because the Inventory Management system is isolated with batch-only integration, item data is relatively clean, and a lightweight cross-reference index (</a:t>
            </a:r>
            <a:r>
              <a:rPr lang="en-US" sz="1600" dirty="0" err="1">
                <a:solidFill>
                  <a:schemeClr val="tx1"/>
                </a:solidFill>
                <a:highlight>
                  <a:schemeClr val="lt1"/>
                </a:highlight>
                <a:latin typeface="Open Sans" panose="020B0606030504020204" pitchFamily="34" charset="0"/>
                <a:ea typeface="Open Sans" panose="020B0606030504020204" pitchFamily="34" charset="0"/>
                <a:cs typeface="Open Sans" panose="020B0606030504020204" pitchFamily="34" charset="0"/>
              </a:rPr>
              <a:t>ItemID</a:t>
            </a:r>
            <a:r>
              <a:rPr lang="en-US" sz="1600" dirty="0">
                <a:solidFill>
                  <a:schemeClr val="tx1"/>
                </a:solidFill>
                <a:highlight>
                  <a:schemeClr val="lt1"/>
                </a:highlight>
                <a:latin typeface="Open Sans" panose="020B0606030504020204" pitchFamily="34" charset="0"/>
                <a:ea typeface="Open Sans" panose="020B0606030504020204" pitchFamily="34" charset="0"/>
                <a:cs typeface="Open Sans" panose="020B0606030504020204" pitchFamily="34" charset="0"/>
              </a:rPr>
              <a:t> → </a:t>
            </a:r>
            <a:r>
              <a:rPr lang="en-US" sz="1600" dirty="0" err="1">
                <a:solidFill>
                  <a:schemeClr val="tx1"/>
                </a:solidFill>
                <a:highlight>
                  <a:schemeClr val="lt1"/>
                </a:highlight>
                <a:latin typeface="Open Sans" panose="020B0606030504020204" pitchFamily="34" charset="0"/>
                <a:ea typeface="Open Sans" panose="020B0606030504020204" pitchFamily="34" charset="0"/>
                <a:cs typeface="Open Sans" panose="020B0606030504020204" pitchFamily="34" charset="0"/>
              </a:rPr>
              <a:t>ListingID</a:t>
            </a:r>
            <a:r>
              <a:rPr lang="en-US" sz="1600" dirty="0">
                <a:solidFill>
                  <a:schemeClr val="tx1"/>
                </a:solidFill>
                <a:highlight>
                  <a:schemeClr val="lt1"/>
                </a:highlight>
                <a:latin typeface="Open Sans" panose="020B0606030504020204" pitchFamily="34" charset="0"/>
                <a:ea typeface="Open Sans" panose="020B0606030504020204" pitchFamily="34" charset="0"/>
                <a:cs typeface="Open Sans" panose="020B0606030504020204" pitchFamily="34" charset="0"/>
              </a:rPr>
              <a:t>) provides the needed performance without disrupting the customer-facing Listing Service. This hybrid approach minimizes risk to critical systems, Order Processing (99.999% uptime) remains untouched until final phases, while enabling Jessica to resolve customer data conflicts through golden records and allowing Jake to maintain infrastructure alongside current duties. The phased 12-month implementation starts with low-impact item indexing and batch integration, gradually introducing real-time customer data synchronization only after the foundation proves stable, ultimately reducing data quality issues by 75% and firefighting workload by 80% without business disruption.</a:t>
            </a:r>
          </a:p>
          <a:p>
            <a:pPr marL="0" lvl="0" indent="0" algn="just" rtl="0">
              <a:spcBef>
                <a:spcPts val="0"/>
              </a:spcBef>
              <a:spcAft>
                <a:spcPts val="1600"/>
              </a:spcAft>
              <a:buClr>
                <a:schemeClr val="dk1"/>
              </a:buClr>
              <a:buSzPts val="1100"/>
              <a:buFont typeface="Arial"/>
              <a:buNone/>
            </a:pPr>
            <a:endParaRPr lang="en-US" sz="1200" dirty="0">
              <a:solidFill>
                <a:schemeClr val="tx1"/>
              </a:solidFill>
              <a:highlight>
                <a:srgbClr val="FFFFFF"/>
              </a:highlight>
              <a:latin typeface="Open Sans" panose="020B0606030504020204" pitchFamily="34" charset="0"/>
              <a:ea typeface="Open Sans" panose="020B0606030504020204" pitchFamily="34" charset="0"/>
              <a:cs typeface="Open Sans" panose="020B0606030504020204" pitchFamily="34" charset="0"/>
              <a:sym typeface="Open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85"/>
        <p:cNvGrpSpPr/>
        <p:nvPr/>
      </p:nvGrpSpPr>
      <p:grpSpPr>
        <a:xfrm>
          <a:off x="0" y="0"/>
          <a:ext cx="0" cy="0"/>
          <a:chOff x="0" y="0"/>
          <a:chExt cx="0" cy="0"/>
        </a:xfrm>
      </p:grpSpPr>
      <p:sp>
        <p:nvSpPr>
          <p:cNvPr id="286" name="Google Shape;286;p68"/>
          <p:cNvSpPr/>
          <p:nvPr/>
        </p:nvSpPr>
        <p:spPr>
          <a:xfrm>
            <a:off x="539850" y="4051175"/>
            <a:ext cx="66927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dirty="0">
                <a:solidFill>
                  <a:srgbClr val="FFFFFF"/>
                </a:solidFill>
                <a:latin typeface="Open Sans"/>
                <a:ea typeface="Open Sans"/>
                <a:cs typeface="Open Sans"/>
                <a:sym typeface="Open Sans"/>
              </a:rPr>
              <a:t>Step 6</a:t>
            </a:r>
            <a:endParaRPr sz="3000" b="1" dirty="0">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dirty="0">
                <a:solidFill>
                  <a:srgbClr val="FFFFFF"/>
                </a:solidFill>
                <a:latin typeface="Open Sans"/>
                <a:ea typeface="Open Sans"/>
                <a:cs typeface="Open Sans"/>
                <a:sym typeface="Open Sans"/>
              </a:rPr>
              <a:t>Master Data Management</a:t>
            </a:r>
            <a:endParaRPr sz="3000" dirty="0">
              <a:solidFill>
                <a:srgbClr val="FFFFFF"/>
              </a:solidFill>
              <a:latin typeface="Open Sans"/>
              <a:ea typeface="Open Sans"/>
              <a:cs typeface="Open Sans"/>
              <a:sym typeface="Open Sans"/>
            </a:endParaRPr>
          </a:p>
          <a:p>
            <a:pPr marL="0" lvl="0" indent="0" algn="ctr" rtl="0">
              <a:lnSpc>
                <a:spcPct val="150000"/>
              </a:lnSpc>
              <a:spcBef>
                <a:spcPts val="0"/>
              </a:spcBef>
              <a:spcAft>
                <a:spcPts val="0"/>
              </a:spcAft>
              <a:buClr>
                <a:schemeClr val="lt1"/>
              </a:buClr>
              <a:buFont typeface="Open Sans"/>
              <a:buNone/>
            </a:pPr>
            <a:r>
              <a:rPr lang="en" sz="3000" dirty="0">
                <a:solidFill>
                  <a:schemeClr val="lt1"/>
                </a:solidFill>
                <a:latin typeface="Open Sans"/>
                <a:ea typeface="Open Sans"/>
                <a:cs typeface="Open Sans"/>
                <a:sym typeface="Open Sans"/>
              </a:rPr>
              <a:t>Part 2: Master Record</a:t>
            </a:r>
            <a:endParaRPr sz="3000" dirty="0">
              <a:solidFill>
                <a:srgbClr val="FFFFFF"/>
              </a:solidFill>
              <a:latin typeface="Open Sans"/>
              <a:ea typeface="Open Sans"/>
              <a:cs typeface="Open Sans"/>
              <a:sym typeface="Open Sans"/>
            </a:endParaRPr>
          </a:p>
        </p:txBody>
      </p:sp>
      <p:sp>
        <p:nvSpPr>
          <p:cNvPr id="287" name="Google Shape;287;p68"/>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5" name="TextBox 4">
            <a:extLst>
              <a:ext uri="{FF2B5EF4-FFF2-40B4-BE49-F238E27FC236}">
                <a16:creationId xmlns:a16="http://schemas.microsoft.com/office/drawing/2014/main" id="{218F82A4-7314-FCF5-F394-D6ECA70674B4}"/>
              </a:ext>
            </a:extLst>
          </p:cNvPr>
          <p:cNvSpPr txBox="1"/>
          <p:nvPr/>
        </p:nvSpPr>
        <p:spPr>
          <a:xfrm>
            <a:off x="497840" y="496759"/>
            <a:ext cx="6766560" cy="8525411"/>
          </a:xfrm>
          <a:prstGeom prst="rect">
            <a:avLst/>
          </a:prstGeom>
          <a:noFill/>
        </p:spPr>
        <p:txBody>
          <a:bodyPr wrap="square">
            <a:spAutoFit/>
          </a:bodyPr>
          <a:lstStyle/>
          <a:p>
            <a:pPr algn="l"/>
            <a:r>
              <a:rPr lang="en-US" sz="18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MDM Matching Rules</a:t>
            </a:r>
          </a:p>
          <a:p>
            <a:pPr marL="171450" indent="-171450" algn="l">
              <a:buFont typeface="Arial" panose="020B0604020202020204" pitchFamily="34" charset="0"/>
              <a:buChar char="•"/>
            </a:pPr>
            <a:endParaRPr lang="en-US" sz="1200" b="1"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marL="171450" indent="-171450" algn="l">
              <a:buFont typeface="Arial" panose="020B0604020202020204" pitchFamily="34" charset="0"/>
              <a:buChar char="•"/>
            </a:pPr>
            <a:endParaRPr lang="en-US"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a:r>
              <a:rPr lang="en-US"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Customer Matching Rules:</a:t>
            </a:r>
          </a:p>
          <a:p>
            <a:pPr algn="l"/>
            <a:endParaRPr lang="en-US"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228600" indent="-228600" algn="l">
              <a:lnSpc>
                <a:spcPct val="150000"/>
              </a:lnSpc>
              <a:buFont typeface="+mj-lt"/>
              <a:buAutoNum type="arabicPeriod"/>
            </a:pPr>
            <a:r>
              <a:rPr lang="en-US"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Email + Name Match (High Confidence - 95%+)</a:t>
            </a:r>
            <a:endPar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742950" lvl="1" indent="-285750" algn="l">
              <a:buFont typeface="Arial" panose="020B0604020202020204" pitchFamily="34" charset="0"/>
              <a:buChar char="•"/>
            </a:pPr>
            <a:r>
              <a:rPr lang="en-US"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Logic</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Exact email match AND (exact name match OR </a:t>
            </a:r>
            <a:r>
              <a:rPr lang="en-US"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Levenshtein</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distance ≤ 2 on LastName)</a:t>
            </a:r>
          </a:p>
          <a:p>
            <a:pPr marL="742950" lvl="1" indent="-285750" algn="l">
              <a:buFont typeface="Arial" panose="020B0604020202020204" pitchFamily="34" charset="0"/>
              <a:buChar char="•"/>
            </a:pPr>
            <a:r>
              <a:rPr lang="en-US"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Example</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hlinkClick r:id="rId3">
                  <a:extLst>
                    <a:ext uri="{A12FA001-AC4F-418D-AE19-62706E023703}">
                      <ahyp:hlinkClr xmlns:ahyp="http://schemas.microsoft.com/office/drawing/2018/hyperlinkcolor" val="tx"/>
                    </a:ext>
                  </a:extLst>
                </a:hlinkClick>
              </a:rPr>
              <a:t>john.smith@gmail.com</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 "John Smith" matches </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hlinkClick r:id="rId3">
                  <a:extLst>
                    <a:ext uri="{A12FA001-AC4F-418D-AE19-62706E023703}">
                      <ahyp:hlinkClr xmlns:ahyp="http://schemas.microsoft.com/office/drawing/2018/hyperlinkcolor" val="tx"/>
                    </a:ext>
                  </a:extLst>
                </a:hlinkClick>
              </a:rPr>
              <a:t>john.smith@gmail.com</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 "John Smyth" (typo tolerance)</a:t>
            </a:r>
          </a:p>
          <a:p>
            <a:pPr marL="742950" lvl="1" indent="-285750" algn="l">
              <a:buFont typeface="Arial" panose="020B0604020202020204" pitchFamily="34" charset="0"/>
              <a:buChar char="•"/>
            </a:pPr>
            <a:r>
              <a:rPr lang="en-US"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Use Case</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Identify same person across User Service, Customer Service, and Order Processing</a:t>
            </a:r>
          </a:p>
          <a:p>
            <a:pPr marL="742950" lvl="1" indent="-285750" algn="l">
              <a:buFont typeface="Arial" panose="020B0604020202020204" pitchFamily="34" charset="0"/>
              <a:buChar char="•"/>
            </a:pPr>
            <a:r>
              <a:rPr lang="en-US"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Confidence Threshold</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 95% → Auto-merge | 85-94% → Steward review | &lt; 85% → No match</a:t>
            </a:r>
          </a:p>
          <a:p>
            <a:pPr marL="228600" indent="-228600" algn="l">
              <a:lnSpc>
                <a:spcPct val="150000"/>
              </a:lnSpc>
              <a:buFont typeface="+mj-lt"/>
              <a:buAutoNum type="arabicPeriod"/>
            </a:pPr>
            <a:r>
              <a:rPr lang="en-US"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Address + Phone Match (Medium Confidence - 85-95%)</a:t>
            </a:r>
            <a:endPar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742950" lvl="1" indent="-285750" algn="l">
              <a:buFont typeface="Arial" panose="020B0604020202020204" pitchFamily="34" charset="0"/>
              <a:buChar char="•"/>
            </a:pPr>
            <a:r>
              <a:rPr lang="en-US"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Logic</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Standardized address match (same street number, street name, zip) AND similar name (first 3 letters of LastName + FirstName initial)</a:t>
            </a:r>
          </a:p>
          <a:p>
            <a:pPr marL="742950" lvl="1" indent="-285750" algn="l">
              <a:buFont typeface="Arial" panose="020B0604020202020204" pitchFamily="34" charset="0"/>
              <a:buChar char="•"/>
            </a:pPr>
            <a:r>
              <a:rPr lang="en-US"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Example</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"123 Main St, 10001" + "R. Johnson" matches "123 Main Street, 10001" + "Robert Johnson"</a:t>
            </a:r>
          </a:p>
          <a:p>
            <a:pPr marL="742950" lvl="1" indent="-285750" algn="l">
              <a:buFont typeface="Arial" panose="020B0604020202020204" pitchFamily="34" charset="0"/>
              <a:buChar char="•"/>
            </a:pPr>
            <a:r>
              <a:rPr lang="en-US"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Use Case</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Catch duplicates where user registered with different email but same physical location</a:t>
            </a:r>
          </a:p>
          <a:p>
            <a:pPr marL="742950" lvl="1" indent="-285750" algn="l">
              <a:buFont typeface="Arial" panose="020B0604020202020204" pitchFamily="34" charset="0"/>
              <a:buChar char="•"/>
            </a:pPr>
            <a:r>
              <a:rPr lang="en-US"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Confidence Threshold</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 90% → Steward review | &lt; 90% → Flag for investigation</a:t>
            </a:r>
          </a:p>
          <a:p>
            <a:pPr marL="742950" lvl="1" indent="-285750" algn="l">
              <a:buFont typeface="Arial" panose="020B0604020202020204" pitchFamily="34" charset="0"/>
              <a:buChar char="•"/>
            </a:pPr>
            <a:endPar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algn="l"/>
            <a:r>
              <a:rPr lang="en-US"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Item Matching Rules:</a:t>
            </a:r>
          </a:p>
          <a:p>
            <a:pPr marL="171450" indent="-171450" algn="l">
              <a:buFont typeface="Arial" panose="020B0604020202020204" pitchFamily="34" charset="0"/>
              <a:buChar char="•"/>
            </a:pPr>
            <a:endParaRPr lang="en-US"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228600" indent="-228600" algn="l">
              <a:lnSpc>
                <a:spcPct val="150000"/>
              </a:lnSpc>
              <a:buFont typeface="+mj-lt"/>
              <a:buAutoNum type="arabicPeriod"/>
            </a:pPr>
            <a:r>
              <a:rPr lang="en-US"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Physical Characteristics Match (High Confidence - 95%+)</a:t>
            </a:r>
            <a:endPar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742950" lvl="1" indent="-285750" algn="l">
              <a:lnSpc>
                <a:spcPct val="150000"/>
              </a:lnSpc>
              <a:buFont typeface="Arial" panose="020B0604020202020204" pitchFamily="34" charset="0"/>
              <a:buChar char="•"/>
            </a:pPr>
            <a:r>
              <a:rPr lang="en-US"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Logic</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Exact match on Brand AND Color AND Size AND Condition AND Gender</a:t>
            </a:r>
          </a:p>
          <a:p>
            <a:pPr marL="742950" lvl="1" indent="-285750" algn="l">
              <a:buFont typeface="Arial" panose="020B0604020202020204" pitchFamily="34" charset="0"/>
              <a:buChar char="•"/>
            </a:pPr>
            <a:r>
              <a:rPr lang="en-US"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Example</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r>
              <a:rPr lang="en-US"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im.Items</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(Brand="Nike", Color="White", Size=10.5, Condition="New", Sex="Male") matches </a:t>
            </a:r>
            <a:r>
              <a:rPr lang="en-US"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li.listings</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(Brand="Nike", Color="White", Size=10.5, Condition="New", Gender="M")</a:t>
            </a:r>
          </a:p>
          <a:p>
            <a:pPr marL="742950" lvl="1" indent="-285750" algn="l">
              <a:buFont typeface="Arial" panose="020B0604020202020204" pitchFamily="34" charset="0"/>
              <a:buChar char="•"/>
            </a:pPr>
            <a:r>
              <a:rPr lang="en-US"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Use Case</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Link authenticated warehouse items to marketplace listings</a:t>
            </a:r>
          </a:p>
          <a:p>
            <a:pPr marL="742950" lvl="1" indent="-285750" algn="l">
              <a:buFont typeface="Arial" panose="020B0604020202020204" pitchFamily="34" charset="0"/>
              <a:buChar char="•"/>
            </a:pPr>
            <a:r>
              <a:rPr lang="en-US"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Confidence Threshold</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All 5 attributes match → Same physical item | 4/5 match → Review | &lt; 4/5 → Different items</a:t>
            </a:r>
          </a:p>
          <a:p>
            <a:pPr marL="228600" indent="-228600" algn="l">
              <a:lnSpc>
                <a:spcPct val="150000"/>
              </a:lnSpc>
              <a:buFont typeface="+mj-lt"/>
              <a:buAutoNum type="arabicPeriod"/>
            </a:pPr>
            <a:r>
              <a:rPr lang="en-US"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Seller + </a:t>
            </a:r>
            <a:r>
              <a:rPr lang="en-US" sz="1200" b="1"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ItemID</a:t>
            </a:r>
            <a:r>
              <a:rPr lang="en-US"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Match (Very High Confidence - 98%+)</a:t>
            </a:r>
            <a:endPar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742950" lvl="1" indent="-285750" algn="l">
              <a:buFont typeface="Arial" panose="020B0604020202020204" pitchFamily="34" charset="0"/>
              <a:buChar char="•"/>
            </a:pPr>
            <a:r>
              <a:rPr lang="en-US"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Logic</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Same </a:t>
            </a:r>
            <a:r>
              <a:rPr lang="en-US"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SellerID</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r>
              <a:rPr lang="en-US"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UserID</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AND </a:t>
            </a:r>
            <a:r>
              <a:rPr lang="en-US"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ItemID</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exists in both </a:t>
            </a:r>
            <a:r>
              <a:rPr lang="en-US"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im.Items</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and </a:t>
            </a:r>
            <a:r>
              <a:rPr lang="en-US"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li.listings</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within 45-day window</a:t>
            </a:r>
          </a:p>
          <a:p>
            <a:pPr marL="742950" lvl="1" indent="-285750" algn="l">
              <a:buFont typeface="Arial" panose="020B0604020202020204" pitchFamily="34" charset="0"/>
              <a:buChar char="•"/>
            </a:pPr>
            <a:r>
              <a:rPr lang="en-US"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Example</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r>
              <a:rPr lang="en-US"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SellerID</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25516 ships </a:t>
            </a:r>
            <a:r>
              <a:rPr lang="en-US"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ItemID</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2333 (</a:t>
            </a:r>
            <a:r>
              <a:rPr lang="en-US"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ArrivalDate</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2020-09-15), then creates </a:t>
            </a:r>
            <a:r>
              <a:rPr lang="en-US"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ListingID</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922399 with </a:t>
            </a:r>
            <a:r>
              <a:rPr lang="en-US"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ProductID</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509 (</a:t>
            </a:r>
            <a:r>
              <a:rPr lang="en-US" sz="1200" b="0" i="0" dirty="0" err="1">
                <a:solidFill>
                  <a:schemeClr val="tx1"/>
                </a:solidFill>
                <a:effectLst/>
                <a:latin typeface="Open Sans" panose="020B0606030504020204" pitchFamily="34" charset="0"/>
                <a:ea typeface="Open Sans" panose="020B0606030504020204" pitchFamily="34" charset="0"/>
                <a:cs typeface="Open Sans" panose="020B0606030504020204" pitchFamily="34" charset="0"/>
              </a:rPr>
              <a:t>ListingCreateDate</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2020-10-06) → Same item</a:t>
            </a:r>
          </a:p>
          <a:p>
            <a:pPr marL="742950" lvl="1" indent="-285750" algn="l">
              <a:buFont typeface="Arial" panose="020B0604020202020204" pitchFamily="34" charset="0"/>
              <a:buChar char="•"/>
            </a:pPr>
            <a:r>
              <a:rPr lang="en-US"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Use Case</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Cross-reference inventory items to listings using business process timeline</a:t>
            </a:r>
          </a:p>
          <a:p>
            <a:pPr marL="742950" lvl="1" indent="-285750" algn="l">
              <a:buFont typeface="Arial" panose="020B0604020202020204" pitchFamily="34" charset="0"/>
              <a:buChar char="•"/>
            </a:pPr>
            <a:r>
              <a:rPr lang="en-US" sz="1200" b="1"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Confidence Threshold</a:t>
            </a:r>
            <a:r>
              <a:rPr lang="en-US" sz="1200" b="0" i="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 ≥ 98% → Definite match (create cross-reference) | &lt; 98% → Data quality issue (investigate delay)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96"/>
        <p:cNvGrpSpPr/>
        <p:nvPr/>
      </p:nvGrpSpPr>
      <p:grpSpPr>
        <a:xfrm>
          <a:off x="0" y="0"/>
          <a:ext cx="0" cy="0"/>
          <a:chOff x="0" y="0"/>
          <a:chExt cx="0" cy="0"/>
        </a:xfrm>
      </p:grpSpPr>
      <p:sp>
        <p:nvSpPr>
          <p:cNvPr id="297" name="Google Shape;297;p70"/>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
        <p:nvSpPr>
          <p:cNvPr id="298" name="Google Shape;298;p70"/>
          <p:cNvSpPr/>
          <p:nvPr/>
        </p:nvSpPr>
        <p:spPr>
          <a:xfrm>
            <a:off x="1422750" y="4013075"/>
            <a:ext cx="49269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7</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Data Governance:</a:t>
            </a:r>
            <a:endParaRPr sz="3000">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Roles and Responsibilities</a:t>
            </a:r>
            <a:endParaRPr sz="3000">
              <a:solidFill>
                <a:srgbClr val="FFFFFF"/>
              </a:solidFill>
              <a:latin typeface="Open Sans"/>
              <a:ea typeface="Open Sans"/>
              <a:cs typeface="Open Sans"/>
              <a:sym typeface="Open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71"/>
          <p:cNvSpPr txBox="1"/>
          <p:nvPr/>
        </p:nvSpPr>
        <p:spPr>
          <a:xfrm>
            <a:off x="457200" y="447674"/>
            <a:ext cx="6842100" cy="7294245"/>
          </a:xfrm>
          <a:prstGeom prst="rect">
            <a:avLst/>
          </a:prstGeom>
          <a:noFill/>
          <a:ln>
            <a:noFill/>
          </a:ln>
        </p:spPr>
        <p:txBody>
          <a:bodyPr spcFirstLastPara="1" wrap="square" lIns="91425" tIns="91425" rIns="91425" bIns="91425" anchor="t" anchorCtr="0">
            <a:noAutofit/>
          </a:bodyPr>
          <a:lstStyle/>
          <a:p>
            <a:pPr algn="just"/>
            <a:r>
              <a:rPr lang="en-US" sz="1600" b="1" dirty="0">
                <a:latin typeface="Open Sans" panose="020B0606030504020204" pitchFamily="34" charset="0"/>
                <a:ea typeface="Open Sans" panose="020B0606030504020204" pitchFamily="34" charset="0"/>
                <a:cs typeface="Open Sans" panose="020B0606030504020204" pitchFamily="34" charset="0"/>
              </a:rPr>
              <a:t>Data Governance Roles and Responsibilities</a:t>
            </a:r>
          </a:p>
          <a:p>
            <a:pPr algn="just"/>
            <a:endParaRPr lang="en-US" b="1" dirty="0">
              <a:highlight>
                <a:srgbClr val="FFFFFF"/>
              </a:highlight>
              <a:latin typeface="Open Sans" panose="020B0606030504020204" pitchFamily="34" charset="0"/>
              <a:ea typeface="Open Sans" panose="020B0606030504020204" pitchFamily="34" charset="0"/>
              <a:cs typeface="Open Sans" panose="020B0606030504020204" pitchFamily="34" charset="0"/>
            </a:endParaRPr>
          </a:p>
          <a:p>
            <a:pPr algn="just"/>
            <a:r>
              <a:rPr lang="en-US" dirty="0" err="1">
                <a:highlight>
                  <a:srgbClr val="FFFFFF"/>
                </a:highlight>
                <a:latin typeface="Open Sans" panose="020B0606030504020204" pitchFamily="34" charset="0"/>
                <a:ea typeface="Open Sans" panose="020B0606030504020204" pitchFamily="34" charset="0"/>
                <a:cs typeface="Open Sans" panose="020B0606030504020204" pitchFamily="34" charset="0"/>
              </a:rPr>
              <a:t>SneakerPark's</a:t>
            </a:r>
            <a:r>
              <a:rPr lang="en-US" dirty="0">
                <a:highlight>
                  <a:srgbClr val="FFFFFF"/>
                </a:highlight>
                <a:latin typeface="Open Sans" panose="020B0606030504020204" pitchFamily="34" charset="0"/>
                <a:ea typeface="Open Sans" panose="020B0606030504020204" pitchFamily="34" charset="0"/>
                <a:cs typeface="Open Sans" panose="020B0606030504020204" pitchFamily="34" charset="0"/>
              </a:rPr>
              <a:t> Data Management initiative requires governance across three critical areas: </a:t>
            </a:r>
            <a:r>
              <a:rPr lang="en-US" b="1" dirty="0">
                <a:highlight>
                  <a:srgbClr val="FFFFFF"/>
                </a:highlight>
                <a:latin typeface="Open Sans" panose="020B0606030504020204" pitchFamily="34" charset="0"/>
                <a:ea typeface="Open Sans" panose="020B0606030504020204" pitchFamily="34" charset="0"/>
                <a:cs typeface="Open Sans" panose="020B0606030504020204" pitchFamily="34" charset="0"/>
              </a:rPr>
              <a:t>Data Quality Management</a:t>
            </a:r>
            <a:r>
              <a:rPr lang="en-US" dirty="0">
                <a:highlight>
                  <a:srgbClr val="FFFFFF"/>
                </a:highlight>
                <a:latin typeface="Open Sans" panose="020B0606030504020204" pitchFamily="34" charset="0"/>
                <a:ea typeface="Open Sans" panose="020B0606030504020204" pitchFamily="34" charset="0"/>
                <a:cs typeface="Open Sans" panose="020B0606030504020204" pitchFamily="34" charset="0"/>
              </a:rPr>
              <a:t>, </a:t>
            </a:r>
            <a:r>
              <a:rPr lang="en-US" b="1" dirty="0">
                <a:highlight>
                  <a:srgbClr val="FFFFFF"/>
                </a:highlight>
                <a:latin typeface="Open Sans" panose="020B0606030504020204" pitchFamily="34" charset="0"/>
                <a:ea typeface="Open Sans" panose="020B0606030504020204" pitchFamily="34" charset="0"/>
                <a:cs typeface="Open Sans" panose="020B0606030504020204" pitchFamily="34" charset="0"/>
              </a:rPr>
              <a:t>Master Data Management (MDM)</a:t>
            </a:r>
            <a:r>
              <a:rPr lang="en-US" dirty="0">
                <a:highlight>
                  <a:srgbClr val="FFFFFF"/>
                </a:highlight>
                <a:latin typeface="Open Sans" panose="020B0606030504020204" pitchFamily="34" charset="0"/>
                <a:ea typeface="Open Sans" panose="020B0606030504020204" pitchFamily="34" charset="0"/>
                <a:cs typeface="Open Sans" panose="020B0606030504020204" pitchFamily="34" charset="0"/>
              </a:rPr>
              <a:t>, and </a:t>
            </a:r>
            <a:r>
              <a:rPr lang="en-US" b="1" dirty="0">
                <a:highlight>
                  <a:srgbClr val="FFFFFF"/>
                </a:highlight>
                <a:latin typeface="Open Sans" panose="020B0606030504020204" pitchFamily="34" charset="0"/>
                <a:ea typeface="Open Sans" panose="020B0606030504020204" pitchFamily="34" charset="0"/>
                <a:cs typeface="Open Sans" panose="020B0606030504020204" pitchFamily="34" charset="0"/>
              </a:rPr>
              <a:t>Metadata Management</a:t>
            </a:r>
            <a:r>
              <a:rPr lang="en-US" dirty="0">
                <a:highlight>
                  <a:srgbClr val="FFFFFF"/>
                </a:highlight>
                <a:latin typeface="Open Sans" panose="020B0606030504020204" pitchFamily="34" charset="0"/>
                <a:ea typeface="Open Sans" panose="020B0606030504020204" pitchFamily="34" charset="0"/>
                <a:cs typeface="Open Sans" panose="020B0606030504020204" pitchFamily="34" charset="0"/>
              </a:rPr>
              <a:t>. For Data Quality Management, we need a Data Quality Manager to define and monitor DQ rules, oversee the quality scoring engine, coordinate remediation of the five identified issues (missing </a:t>
            </a:r>
            <a:r>
              <a:rPr lang="en-US" dirty="0" err="1">
                <a:highlight>
                  <a:srgbClr val="FFFFFF"/>
                </a:highlight>
                <a:latin typeface="Open Sans" panose="020B0606030504020204" pitchFamily="34" charset="0"/>
                <a:ea typeface="Open Sans" panose="020B0606030504020204" pitchFamily="34" charset="0"/>
                <a:cs typeface="Open Sans" panose="020B0606030504020204" pitchFamily="34" charset="0"/>
              </a:rPr>
              <a:t>ShoeType</a:t>
            </a:r>
            <a:r>
              <a:rPr lang="en-US" dirty="0">
                <a:highlight>
                  <a:srgbClr val="FFFFFF"/>
                </a:highlight>
                <a:latin typeface="Open Sans" panose="020B0606030504020204" pitchFamily="34" charset="0"/>
                <a:ea typeface="Open Sans" panose="020B0606030504020204" pitchFamily="34" charset="0"/>
                <a:cs typeface="Open Sans" panose="020B0606030504020204" pitchFamily="34" charset="0"/>
              </a:rPr>
              <a:t>, name mismatches, invalid sizes, missing arrival dates, duplicate accounts), and manage the monitoring dashboard. For MDM, an MDM Architect is essential to design and maintain the Hybrid MDM architecture, manage the matching engine with our four matching rules, and oversee integration between golden customer records and the item cross-reference index. For Metadata Management, we need a Data Steward Lead to maintain the Enterprise Data Catalog, ensure business glossary terms remain current, enforce naming conventions across systems, and manage business metadata for all eight tables. Additionally, domain-specific stewards are needed to resolve customer conflicts, approve merges, backfill missing data, and validate warehouse item attributes.</a:t>
            </a:r>
          </a:p>
          <a:p>
            <a:pPr algn="just"/>
            <a:r>
              <a:rPr lang="en-US" dirty="0">
                <a:highlight>
                  <a:srgbClr val="FFFFFF"/>
                </a:highlight>
                <a:latin typeface="Open Sans" panose="020B0606030504020204" pitchFamily="34" charset="0"/>
                <a:ea typeface="Open Sans" panose="020B0606030504020204" pitchFamily="34" charset="0"/>
                <a:cs typeface="Open Sans" panose="020B0606030504020204" pitchFamily="34" charset="0"/>
              </a:rPr>
              <a:t> </a:t>
            </a:r>
            <a:endParaRPr lang="en-US" sz="1600" dirty="0">
              <a:highlight>
                <a:srgbClr val="FFFFFF"/>
              </a:highlight>
              <a:latin typeface="Open Sans" panose="020B0606030504020204" pitchFamily="34" charset="0"/>
              <a:ea typeface="Open Sans" panose="020B0606030504020204" pitchFamily="34" charset="0"/>
              <a:cs typeface="Open Sans" panose="020B0606030504020204" pitchFamily="34" charset="0"/>
            </a:endParaRPr>
          </a:p>
          <a:p>
            <a:pPr algn="just"/>
            <a:r>
              <a:rPr lang="en-US" dirty="0">
                <a:highlight>
                  <a:srgbClr val="FFFFFF"/>
                </a:highlight>
                <a:latin typeface="Open Sans" panose="020B0606030504020204" pitchFamily="34" charset="0"/>
                <a:ea typeface="Open Sans" panose="020B0606030504020204" pitchFamily="34" charset="0"/>
                <a:cs typeface="Open Sans" panose="020B0606030504020204" pitchFamily="34" charset="0"/>
              </a:rPr>
              <a:t>Based on </a:t>
            </a:r>
            <a:r>
              <a:rPr lang="en-US" dirty="0" err="1">
                <a:highlight>
                  <a:srgbClr val="FFFFFF"/>
                </a:highlight>
                <a:latin typeface="Open Sans" panose="020B0606030504020204" pitchFamily="34" charset="0"/>
                <a:ea typeface="Open Sans" panose="020B0606030504020204" pitchFamily="34" charset="0"/>
                <a:cs typeface="Open Sans" panose="020B0606030504020204" pitchFamily="34" charset="0"/>
              </a:rPr>
              <a:t>SneakerPark's</a:t>
            </a:r>
            <a:r>
              <a:rPr lang="en-US" dirty="0">
                <a:highlight>
                  <a:srgbClr val="FFFFFF"/>
                </a:highlight>
                <a:latin typeface="Open Sans" panose="020B0606030504020204" pitchFamily="34" charset="0"/>
                <a:ea typeface="Open Sans" panose="020B0606030504020204" pitchFamily="34" charset="0"/>
                <a:cs typeface="Open Sans" panose="020B0606030504020204" pitchFamily="34" charset="0"/>
              </a:rPr>
              <a:t> current team, </a:t>
            </a:r>
            <a:r>
              <a:rPr lang="en-US" b="1" dirty="0">
                <a:highlight>
                  <a:srgbClr val="FFFFFF"/>
                </a:highlight>
                <a:latin typeface="Open Sans" panose="020B0606030504020204" pitchFamily="34" charset="0"/>
                <a:ea typeface="Open Sans" panose="020B0606030504020204" pitchFamily="34" charset="0"/>
                <a:cs typeface="Open Sans" panose="020B0606030504020204" pitchFamily="34" charset="0"/>
              </a:rPr>
              <a:t>Jessica should be promoted to Lead Data Steward</a:t>
            </a:r>
            <a:r>
              <a:rPr lang="en-US" dirty="0">
                <a:highlight>
                  <a:srgbClr val="FFFFFF"/>
                </a:highlight>
                <a:latin typeface="Open Sans" panose="020B0606030504020204" pitchFamily="34" charset="0"/>
                <a:ea typeface="Open Sans" panose="020B0606030504020204" pitchFamily="34" charset="0"/>
                <a:cs typeface="Open Sans" panose="020B0606030504020204" pitchFamily="34" charset="0"/>
              </a:rPr>
              <a:t> given her subject matter expertise and ability to identify data issues across all systems. </a:t>
            </a:r>
            <a:r>
              <a:rPr lang="en-US" b="1" dirty="0">
                <a:highlight>
                  <a:srgbClr val="FFFFFF"/>
                </a:highlight>
                <a:latin typeface="Open Sans" panose="020B0606030504020204" pitchFamily="34" charset="0"/>
                <a:ea typeface="Open Sans" panose="020B0606030504020204" pitchFamily="34" charset="0"/>
                <a:cs typeface="Open Sans" panose="020B0606030504020204" pitchFamily="34" charset="0"/>
              </a:rPr>
              <a:t>Jake should receive MDM training</a:t>
            </a:r>
            <a:r>
              <a:rPr lang="en-US" dirty="0">
                <a:highlight>
                  <a:srgbClr val="FFFFFF"/>
                </a:highlight>
                <a:latin typeface="Open Sans" panose="020B0606030504020204" pitchFamily="34" charset="0"/>
                <a:ea typeface="Open Sans" panose="020B0606030504020204" pitchFamily="34" charset="0"/>
                <a:cs typeface="Open Sans" panose="020B0606030504020204" pitchFamily="34" charset="0"/>
              </a:rPr>
              <a:t> to take on administration responsibilities alongside his current database role, as he has the technical foundation but needs education on MDM platforms like Talend and integration tools like </a:t>
            </a:r>
            <a:r>
              <a:rPr lang="en-US" dirty="0" err="1">
                <a:highlight>
                  <a:srgbClr val="FFFFFF"/>
                </a:highlight>
                <a:latin typeface="Open Sans" panose="020B0606030504020204" pitchFamily="34" charset="0"/>
                <a:ea typeface="Open Sans" panose="020B0606030504020204" pitchFamily="34" charset="0"/>
                <a:cs typeface="Open Sans" panose="020B0606030504020204" pitchFamily="34" charset="0"/>
              </a:rPr>
              <a:t>Debezium</a:t>
            </a:r>
            <a:r>
              <a:rPr lang="en-US" dirty="0">
                <a:highlight>
                  <a:srgbClr val="FFFFFF"/>
                </a:highlight>
                <a:latin typeface="Open Sans" panose="020B0606030504020204" pitchFamily="34" charset="0"/>
                <a:ea typeface="Open Sans" panose="020B0606030504020204" pitchFamily="34" charset="0"/>
                <a:cs typeface="Open Sans" panose="020B0606030504020204" pitchFamily="34" charset="0"/>
              </a:rPr>
              <a:t> and Kafka. However, </a:t>
            </a:r>
            <a:r>
              <a:rPr lang="en-US" b="1" dirty="0" err="1">
                <a:highlight>
                  <a:srgbClr val="FFFFFF"/>
                </a:highlight>
                <a:latin typeface="Open Sans" panose="020B0606030504020204" pitchFamily="34" charset="0"/>
                <a:ea typeface="Open Sans" panose="020B0606030504020204" pitchFamily="34" charset="0"/>
                <a:cs typeface="Open Sans" panose="020B0606030504020204" pitchFamily="34" charset="0"/>
              </a:rPr>
              <a:t>SneakerPark</a:t>
            </a:r>
            <a:r>
              <a:rPr lang="en-US" b="1" dirty="0">
                <a:highlight>
                  <a:srgbClr val="FFFFFF"/>
                </a:highlight>
                <a:latin typeface="Open Sans" panose="020B0606030504020204" pitchFamily="34" charset="0"/>
                <a:ea typeface="Open Sans" panose="020B0606030504020204" pitchFamily="34" charset="0"/>
                <a:cs typeface="Open Sans" panose="020B0606030504020204" pitchFamily="34" charset="0"/>
              </a:rPr>
              <a:t> must hire two new positions</a:t>
            </a:r>
            <a:r>
              <a:rPr lang="en-US" dirty="0">
                <a:highlight>
                  <a:srgbClr val="FFFFFF"/>
                </a:highlight>
                <a:latin typeface="Open Sans" panose="020B0606030504020204" pitchFamily="34" charset="0"/>
                <a:ea typeface="Open Sans" panose="020B0606030504020204" pitchFamily="34" charset="0"/>
                <a:cs typeface="Open Sans" panose="020B0606030504020204" pitchFamily="34" charset="0"/>
              </a:rPr>
              <a:t>: an experienced </a:t>
            </a:r>
            <a:r>
              <a:rPr lang="en-US" b="1" dirty="0">
                <a:highlight>
                  <a:srgbClr val="FFFFFF"/>
                </a:highlight>
                <a:latin typeface="Open Sans" panose="020B0606030504020204" pitchFamily="34" charset="0"/>
                <a:ea typeface="Open Sans" panose="020B0606030504020204" pitchFamily="34" charset="0"/>
                <a:cs typeface="Open Sans" panose="020B0606030504020204" pitchFamily="34" charset="0"/>
              </a:rPr>
              <a:t>MDM Architect</a:t>
            </a:r>
            <a:r>
              <a:rPr lang="en-US" dirty="0">
                <a:highlight>
                  <a:srgbClr val="FFFFFF"/>
                </a:highlight>
                <a:latin typeface="Open Sans" panose="020B0606030504020204" pitchFamily="34" charset="0"/>
                <a:ea typeface="Open Sans" panose="020B0606030504020204" pitchFamily="34" charset="0"/>
                <a:cs typeface="Open Sans" panose="020B0606030504020204" pitchFamily="34" charset="0"/>
              </a:rPr>
              <a:t> (too specialized for internal promotion) and a </a:t>
            </a:r>
            <a:r>
              <a:rPr lang="en-US" b="1" dirty="0">
                <a:highlight>
                  <a:srgbClr val="FFFFFF"/>
                </a:highlight>
                <a:latin typeface="Open Sans" panose="020B0606030504020204" pitchFamily="34" charset="0"/>
                <a:ea typeface="Open Sans" panose="020B0606030504020204" pitchFamily="34" charset="0"/>
                <a:cs typeface="Open Sans" panose="020B0606030504020204" pitchFamily="34" charset="0"/>
              </a:rPr>
              <a:t>Data Quality Manager</a:t>
            </a:r>
            <a:r>
              <a:rPr lang="en-US" dirty="0">
                <a:highlight>
                  <a:srgbClr val="FFFFFF"/>
                </a:highlight>
                <a:latin typeface="Open Sans" panose="020B0606030504020204" pitchFamily="34" charset="0"/>
                <a:ea typeface="Open Sans" panose="020B0606030504020204" pitchFamily="34" charset="0"/>
                <a:cs typeface="Open Sans" panose="020B0606030504020204" pitchFamily="34" charset="0"/>
              </a:rPr>
              <a:t> to establish the quality framework and metrics program. The Customer Service team can provide domain stewards for customer data after training, and the warehouse team can steward inventory data. This approach balances leveraging existing knowledge with bringing in specialized expertise while keeping headcount realistic at four governance roles total (2 new hires, 2 promotions). This team will reduce firefighting workload by 80% and improve data quality scores from 85% to over 95%.</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307"/>
        <p:cNvGrpSpPr/>
        <p:nvPr/>
      </p:nvGrpSpPr>
      <p:grpSpPr>
        <a:xfrm>
          <a:off x="0" y="0"/>
          <a:ext cx="0" cy="0"/>
          <a:chOff x="0" y="0"/>
          <a:chExt cx="0" cy="0"/>
        </a:xfrm>
      </p:grpSpPr>
      <p:sp>
        <p:nvSpPr>
          <p:cNvPr id="308" name="Google Shape;308;p72"/>
          <p:cNvSpPr/>
          <p:nvPr/>
        </p:nvSpPr>
        <p:spPr>
          <a:xfrm>
            <a:off x="1422750" y="4013075"/>
            <a:ext cx="49269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Standout Suggestions</a:t>
            </a:r>
            <a:endParaRPr sz="3000">
              <a:solidFill>
                <a:srgbClr val="FFFFFF"/>
              </a:solidFill>
              <a:latin typeface="Open Sans"/>
              <a:ea typeface="Open Sans"/>
              <a:cs typeface="Open Sans"/>
              <a:sym typeface="Open Sans"/>
            </a:endParaRPr>
          </a:p>
        </p:txBody>
      </p:sp>
      <p:sp>
        <p:nvSpPr>
          <p:cNvPr id="309" name="Google Shape;309;p72"/>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0C5E0227-F66A-EF46-9ABC-1F539E2FE08A}"/>
              </a:ext>
            </a:extLst>
          </p:cNvPr>
          <p:cNvPicPr>
            <a:picLocks noChangeAspect="1"/>
          </p:cNvPicPr>
          <p:nvPr/>
        </p:nvPicPr>
        <p:blipFill>
          <a:blip r:embed="rId3"/>
          <a:stretch>
            <a:fillRect/>
          </a:stretch>
        </p:blipFill>
        <p:spPr>
          <a:xfrm>
            <a:off x="0" y="721360"/>
            <a:ext cx="7772400" cy="7191357"/>
          </a:xfrm>
          <a:prstGeom prst="rect">
            <a:avLst/>
          </a:prstGeom>
        </p:spPr>
      </p:pic>
      <p:sp>
        <p:nvSpPr>
          <p:cNvPr id="5" name="TextBox 4">
            <a:extLst>
              <a:ext uri="{FF2B5EF4-FFF2-40B4-BE49-F238E27FC236}">
                <a16:creationId xmlns:a16="http://schemas.microsoft.com/office/drawing/2014/main" id="{3DDE4049-B4BF-D74A-2999-4450F4DF35DA}"/>
              </a:ext>
            </a:extLst>
          </p:cNvPr>
          <p:cNvSpPr txBox="1"/>
          <p:nvPr/>
        </p:nvSpPr>
        <p:spPr>
          <a:xfrm>
            <a:off x="0" y="114310"/>
            <a:ext cx="4876800" cy="307777"/>
          </a:xfrm>
          <a:prstGeom prst="rect">
            <a:avLst/>
          </a:prstGeom>
          <a:noFill/>
        </p:spPr>
        <p:txBody>
          <a:bodyPr wrap="square">
            <a:spAutoFit/>
          </a:bodyPr>
          <a:lstStyle/>
          <a:p>
            <a:r>
              <a:rPr lang="en-US" sz="1400" b="1" dirty="0">
                <a:latin typeface="Open Sans" panose="020B0606030504020204" pitchFamily="34" charset="0"/>
                <a:ea typeface="Open Sans" panose="020B0606030504020204" pitchFamily="34" charset="0"/>
                <a:cs typeface="Open Sans" panose="020B0606030504020204" pitchFamily="34" charset="0"/>
              </a:rPr>
              <a:t>High-Priority Fixes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13">
          <a:extLst>
            <a:ext uri="{FF2B5EF4-FFF2-40B4-BE49-F238E27FC236}">
              <a16:creationId xmlns:a16="http://schemas.microsoft.com/office/drawing/2014/main" id="{E589CA92-76BB-8569-2529-CF90D5BD97C4}"/>
            </a:ext>
          </a:extLst>
        </p:cNvPr>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E2D954E3-D0F7-ECBF-3F82-B4101E88BEA1}"/>
              </a:ext>
            </a:extLst>
          </p:cNvPr>
          <p:cNvPicPr>
            <a:picLocks noChangeAspect="1"/>
          </p:cNvPicPr>
          <p:nvPr/>
        </p:nvPicPr>
        <p:blipFill>
          <a:blip r:embed="rId3"/>
          <a:stretch>
            <a:fillRect/>
          </a:stretch>
        </p:blipFill>
        <p:spPr>
          <a:xfrm>
            <a:off x="567690" y="1169670"/>
            <a:ext cx="6637020" cy="4244340"/>
          </a:xfrm>
          <a:prstGeom prst="rect">
            <a:avLst/>
          </a:prstGeom>
        </p:spPr>
      </p:pic>
      <p:sp>
        <p:nvSpPr>
          <p:cNvPr id="4" name="TextBox 3">
            <a:extLst>
              <a:ext uri="{FF2B5EF4-FFF2-40B4-BE49-F238E27FC236}">
                <a16:creationId xmlns:a16="http://schemas.microsoft.com/office/drawing/2014/main" id="{251CCD09-60EE-B5A3-8273-D9FC2BE37F4B}"/>
              </a:ext>
            </a:extLst>
          </p:cNvPr>
          <p:cNvSpPr txBox="1"/>
          <p:nvPr/>
        </p:nvSpPr>
        <p:spPr>
          <a:xfrm>
            <a:off x="0" y="114310"/>
            <a:ext cx="4876800" cy="307777"/>
          </a:xfrm>
          <a:prstGeom prst="rect">
            <a:avLst/>
          </a:prstGeom>
          <a:noFill/>
        </p:spPr>
        <p:txBody>
          <a:bodyPr wrap="square">
            <a:spAutoFit/>
          </a:bodyPr>
          <a:lstStyle/>
          <a:p>
            <a:r>
              <a:rPr lang="en-US" sz="1400" b="1" dirty="0">
                <a:latin typeface="Open Sans" panose="020B0606030504020204" pitchFamily="34" charset="0"/>
                <a:ea typeface="Open Sans" panose="020B0606030504020204" pitchFamily="34" charset="0"/>
                <a:cs typeface="Open Sans" panose="020B0606030504020204" pitchFamily="34" charset="0"/>
              </a:rPr>
              <a:t>Business Glossary</a:t>
            </a:r>
          </a:p>
        </p:txBody>
      </p:sp>
    </p:spTree>
    <p:extLst>
      <p:ext uri="{BB962C8B-B14F-4D97-AF65-F5344CB8AC3E}">
        <p14:creationId xmlns:p14="http://schemas.microsoft.com/office/powerpoint/2010/main" val="2301368915"/>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1764</Words>
  <Application>Microsoft Office PowerPoint</Application>
  <PresentationFormat>Custom</PresentationFormat>
  <Paragraphs>104</Paragraphs>
  <Slides>21</Slides>
  <Notes>21</Notes>
  <HiddenSlides>0</HiddenSlides>
  <MMClips>0</MMClips>
  <ScaleCrop>false</ScaleCrop>
  <HeadingPairs>
    <vt:vector size="6" baseType="variant">
      <vt:variant>
        <vt:lpstr>Fonts Used</vt:lpstr>
      </vt:variant>
      <vt:variant>
        <vt:i4>5</vt:i4>
      </vt:variant>
      <vt:variant>
        <vt:lpstr>Theme</vt:lpstr>
      </vt:variant>
      <vt:variant>
        <vt:i4>4</vt:i4>
      </vt:variant>
      <vt:variant>
        <vt:lpstr>Slide Titles</vt:lpstr>
      </vt:variant>
      <vt:variant>
        <vt:i4>21</vt:i4>
      </vt:variant>
    </vt:vector>
  </HeadingPairs>
  <TitlesOfParts>
    <vt:vector size="30" baseType="lpstr">
      <vt:lpstr>Arial</vt:lpstr>
      <vt:lpstr>SCE-PS3 Rodin LATIN</vt:lpstr>
      <vt:lpstr>Open Sans Light</vt:lpstr>
      <vt:lpstr>Open Sans</vt:lpstr>
      <vt:lpstr>Helvetica Neue</vt:lpstr>
      <vt:lpstr>Simple Light</vt:lpstr>
      <vt:lpstr>Simple Light</vt:lpstr>
      <vt:lpstr>Simple Light</vt:lpstr>
      <vt:lpstr>White</vt:lpstr>
      <vt:lpstr>Data Governance @ SneakerPark </vt:lpstr>
      <vt:lpstr>Background</vt:lpstr>
      <vt:lpstr>Background (cont’d)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Christopher O'Hara</cp:lastModifiedBy>
  <cp:revision>2</cp:revision>
  <dcterms:modified xsi:type="dcterms:W3CDTF">2025-11-17T12:14:40Z</dcterms:modified>
</cp:coreProperties>
</file>