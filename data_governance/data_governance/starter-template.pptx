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6"/>
  </p:notesMasterIdLst>
  <p:sldIdLst>
    <p:sldId id="256"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7772400" cy="10058400"/>
  <p:notesSz cx="6858000" cy="9144000"/>
  <p:embeddedFontLst>
    <p:embeddedFont>
      <p:font typeface="Helvetica Neue" panose="020B0600070205080204" charset="0"/>
      <p:regular r:id="rId27"/>
      <p:bold r:id="rId28"/>
      <p:italic r:id="rId29"/>
      <p:boldItalic r:id="rId30"/>
    </p:embeddedFont>
    <p:embeddedFont>
      <p:font typeface="Open Sans" panose="020B0606030504020204" pitchFamily="34" charset="0"/>
      <p:regular r:id="rId31"/>
      <p:bold r:id="rId32"/>
      <p:italic r:id="rId33"/>
      <p:boldItalic r:id="rId34"/>
    </p:embeddedFont>
    <p:embeddedFont>
      <p:font typeface="Open Sans Light" panose="020B0306030504020204" pitchFamily="34" charset="0"/>
      <p:regular r:id="rId35"/>
      <p:bold r:id="rId36"/>
      <p:italic r:id="rId37"/>
      <p:boldItalic r:id="rId38"/>
    </p:embeddedFont>
    <p:embeddedFont>
      <p:font typeface="SCE-PS3 Rodin LATIN" panose="02000700000000000000" pitchFamily="2" charset="0"/>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92" y="-10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7.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c24cf9085_0_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9c24cf90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9c24cf9085_0_3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9c24cf908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dd260ecd2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dd260ecd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9c24cf9085_0_4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9b75228fd4_1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g9b75228fd4_1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9dd260ecd2_0_9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9dd260ecd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8F5EAC4-BAF8-5F94-3F67-0D67CC474186}"/>
            </a:ext>
          </a:extLst>
        </p:cNvPr>
        <p:cNvGrpSpPr/>
        <p:nvPr/>
      </p:nvGrpSpPr>
      <p:grpSpPr>
        <a:xfrm>
          <a:off x="0" y="0"/>
          <a:ext cx="0" cy="0"/>
          <a:chOff x="0" y="0"/>
          <a:chExt cx="0" cy="0"/>
        </a:xfrm>
      </p:grpSpPr>
      <p:sp>
        <p:nvSpPr>
          <p:cNvPr id="311" name="Google Shape;311;g9dd260ecd2_0_98:notes">
            <a:extLst>
              <a:ext uri="{FF2B5EF4-FFF2-40B4-BE49-F238E27FC236}">
                <a16:creationId xmlns:a16="http://schemas.microsoft.com/office/drawing/2014/main" id="{6A591A05-F09A-47CE-CF20-8C1317451EEF}"/>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9dd260ecd2_0_98:notes">
            <a:extLst>
              <a:ext uri="{FF2B5EF4-FFF2-40B4-BE49-F238E27FC236}">
                <a16:creationId xmlns:a16="http://schemas.microsoft.com/office/drawing/2014/main" id="{9F58FFF5-10CC-AB8E-C87E-57006CEC8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6380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hyperlink" Target="mailto:john.smith@gmail.com" TargetMode="External"/><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hyperlink" Target="mailto:john.smith@yahoo.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hyperlink" Target="mailto:john.smith@gmail.com" TargetMode="External"/><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Data Governance @ SneakerPark</a:t>
            </a:r>
            <a:endParaRPr sz="4000">
              <a:solidFill>
                <a:srgbClr val="FFFFFF"/>
              </a:solidFill>
            </a:endParaRPr>
          </a:p>
          <a:p>
            <a:pPr marL="0" lvl="0" indent="0" algn="l" rtl="0">
              <a:spcBef>
                <a:spcPts val="0"/>
              </a:spcBef>
              <a:spcAft>
                <a:spcPts val="0"/>
              </a:spcAft>
              <a:buNone/>
            </a:pPr>
            <a:endParaRPr/>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dirty="0">
                <a:solidFill>
                  <a:srgbClr val="EEEEEE"/>
                </a:solidFill>
                <a:latin typeface="Open Sans"/>
                <a:ea typeface="Open Sans"/>
                <a:cs typeface="Open Sans"/>
                <a:sym typeface="Open Sans"/>
              </a:rPr>
              <a:t>Prepared by: Christopher O’Hara, PhD, EngD</a:t>
            </a: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r>
              <a:rPr lang="en" i="1" dirty="0">
                <a:solidFill>
                  <a:srgbClr val="EEEEEE"/>
                </a:solidFill>
                <a:latin typeface="Open Sans"/>
                <a:ea typeface="Open Sans"/>
                <a:cs typeface="Open Sans"/>
                <a:sym typeface="Open Sans"/>
              </a:rPr>
              <a:t>Submitted on: 2025-11-17</a:t>
            </a:r>
            <a:endParaRPr i="1" dirty="0">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a:solidFill>
                  <a:srgbClr val="525C65"/>
                </a:solidFill>
                <a:highlight>
                  <a:srgbClr val="FFFFFF"/>
                </a:highlight>
                <a:latin typeface="Open Sans"/>
                <a:ea typeface="Open Sans"/>
                <a:cs typeface="Open Sans"/>
                <a:sym typeface="Open Sans"/>
              </a:rPr>
              <a:t>SneakerPark</a:t>
            </a:r>
            <a:r>
              <a:rPr lang="en" sz="170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Currently, SneakerPark only supports sales within the United States.</a:t>
            </a:r>
            <a:endParaRPr sz="17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3" name="Picture 2">
            <a:extLst>
              <a:ext uri="{FF2B5EF4-FFF2-40B4-BE49-F238E27FC236}">
                <a16:creationId xmlns:a16="http://schemas.microsoft.com/office/drawing/2014/main" id="{380CC46A-370F-43C6-C320-B65CC42A9203}"/>
              </a:ext>
            </a:extLst>
          </p:cNvPr>
          <p:cNvPicPr>
            <a:picLocks noChangeAspect="1"/>
          </p:cNvPicPr>
          <p:nvPr/>
        </p:nvPicPr>
        <p:blipFill>
          <a:blip r:embed="rId3"/>
          <a:srcRect/>
          <a:stretch/>
        </p:blipFill>
        <p:spPr>
          <a:xfrm>
            <a:off x="791588" y="467791"/>
            <a:ext cx="6189223" cy="91228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B95D477A-E8B0-4C43-8EE7-41F649E549F7}"/>
              </a:ext>
            </a:extLst>
          </p:cNvPr>
          <p:cNvPicPr>
            <a:picLocks noChangeAspect="1"/>
          </p:cNvPicPr>
          <p:nvPr/>
        </p:nvPicPr>
        <p:blipFill>
          <a:blip r:embed="rId3"/>
          <a:stretch>
            <a:fillRect/>
          </a:stretch>
        </p:blipFill>
        <p:spPr>
          <a:xfrm>
            <a:off x="0" y="507378"/>
            <a:ext cx="7772400" cy="420748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FA4E9ED-0297-BEDA-62FE-EA727387E7DA}"/>
              </a:ext>
            </a:extLst>
          </p:cNvPr>
          <p:cNvPicPr>
            <a:picLocks noChangeAspect="1"/>
          </p:cNvPicPr>
          <p:nvPr/>
        </p:nvPicPr>
        <p:blipFill>
          <a:blip r:embed="rId4"/>
          <a:stretch>
            <a:fillRect/>
          </a:stretch>
        </p:blipFill>
        <p:spPr>
          <a:xfrm>
            <a:off x="0" y="5550100"/>
            <a:ext cx="7772400" cy="2087479"/>
          </a:xfrm>
          <a:prstGeom prst="rect">
            <a:avLst/>
          </a:prstGeom>
        </p:spPr>
      </p:pic>
      <p:sp>
        <p:nvSpPr>
          <p:cNvPr id="9" name="TextBox 8">
            <a:extLst>
              <a:ext uri="{FF2B5EF4-FFF2-40B4-BE49-F238E27FC236}">
                <a16:creationId xmlns:a16="http://schemas.microsoft.com/office/drawing/2014/main" id="{A9A0748E-9D04-D960-5F97-436E12A3DB9A}"/>
              </a:ext>
            </a:extLst>
          </p:cNvPr>
          <p:cNvSpPr txBox="1"/>
          <p:nvPr/>
        </p:nvSpPr>
        <p:spPr>
          <a:xfrm>
            <a:off x="0" y="199601"/>
            <a:ext cx="3886200" cy="307777"/>
          </a:xfrm>
          <a:prstGeom prst="rect">
            <a:avLst/>
          </a:prstGeom>
          <a:noFill/>
        </p:spPr>
        <p:txBody>
          <a:bodyPr wrap="square">
            <a:spAutoFit/>
          </a:bodyPr>
          <a:lstStyle/>
          <a:p>
            <a:pPr marL="0" lvl="0" indent="0" algn="just" rtl="0">
              <a:spcBef>
                <a:spcPts val="0"/>
              </a:spcBef>
              <a:spcAft>
                <a:spcPts val="1600"/>
              </a:spcAft>
              <a:buClr>
                <a:schemeClr val="dk1"/>
              </a:buClr>
              <a:buSzPts val="1100"/>
              <a:buFont typeface="Arial"/>
              <a:buNone/>
            </a:pPr>
            <a:r>
              <a:rPr lang="en-US" sz="14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sym typeface="Open Sans"/>
              </a:rPr>
              <a:t>Data Dictionary</a:t>
            </a:r>
            <a:endParaRPr lang="en-US" sz="14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0EE8C48B-59A4-2356-2DED-A124AA04934E}"/>
              </a:ext>
            </a:extLst>
          </p:cNvPr>
          <p:cNvSpPr txBox="1"/>
          <p:nvPr/>
        </p:nvSpPr>
        <p:spPr>
          <a:xfrm>
            <a:off x="0" y="5189651"/>
            <a:ext cx="3886200" cy="307777"/>
          </a:xfrm>
          <a:prstGeom prst="rect">
            <a:avLst/>
          </a:prstGeom>
          <a:noFill/>
        </p:spPr>
        <p:txBody>
          <a:bodyPr wrap="square">
            <a:spAutoFit/>
          </a:bodyPr>
          <a:lstStyle/>
          <a:p>
            <a:pPr marL="0" lvl="0" indent="0" algn="just" rtl="0">
              <a:spcBef>
                <a:spcPts val="0"/>
              </a:spcBef>
              <a:spcAft>
                <a:spcPts val="1600"/>
              </a:spcAft>
              <a:buClr>
                <a:schemeClr val="dk1"/>
              </a:buClr>
              <a:buSzPts val="1100"/>
              <a:buFont typeface="Arial"/>
              <a:buNone/>
            </a:pPr>
            <a:r>
              <a:rPr lang="en-US" sz="14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sym typeface="Open Sans"/>
              </a:rPr>
              <a:t>Business Metadata</a:t>
            </a:r>
            <a:endParaRPr lang="en-US" sz="14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4"/>
            <a:ext cx="6810600" cy="9043445"/>
          </a:xfrm>
          <a:prstGeom prst="rect">
            <a:avLst/>
          </a:prstGeom>
          <a:noFill/>
          <a:ln>
            <a:noFill/>
          </a:ln>
        </p:spPr>
        <p:txBody>
          <a:bodyPr spcFirstLastPara="1" wrap="square" lIns="91425" tIns="91425" rIns="91425" bIns="91425" anchor="t" anchorCtr="0">
            <a:noAutofit/>
          </a:bodyPr>
          <a:lstStyle/>
          <a:p>
            <a:pPr algn="l"/>
            <a:r>
              <a:rPr lang="en-US" sz="1200" b="1" i="0" dirty="0">
                <a:solidFill>
                  <a:schemeClr val="tx1"/>
                </a:solidFill>
                <a:effectLst/>
                <a:latin typeface="SCE-PS3 Rodin LATIN" panose="02000700000000000000" pitchFamily="2" charset="0"/>
              </a:rPr>
              <a:t>Existing Issues (4):</a:t>
            </a:r>
            <a:endParaRPr lang="en-US" sz="1200" b="0" i="0" dirty="0">
              <a:solidFill>
                <a:schemeClr val="tx1"/>
              </a:solidFill>
              <a:effectLst/>
              <a:latin typeface="SCE-PS3 Rodin LATIN" panose="02000700000000000000" pitchFamily="2" charset="0"/>
            </a:endParaRPr>
          </a:p>
          <a:p>
            <a:pPr marL="228600" indent="-228600" algn="l">
              <a:buFont typeface="+mj-lt"/>
              <a:buAutoNum type="arabicPeriod"/>
            </a:pPr>
            <a:r>
              <a:rPr lang="en-US" sz="1200" b="1" i="0" dirty="0">
                <a:solidFill>
                  <a:schemeClr val="tx1"/>
                </a:solidFill>
                <a:effectLst/>
                <a:latin typeface="SCE-PS3 Rodin LATIN" panose="02000700000000000000" pitchFamily="2" charset="0"/>
              </a:rPr>
              <a:t>Missing </a:t>
            </a:r>
            <a:r>
              <a:rPr lang="en-US" sz="1200" b="1" i="0" dirty="0" err="1">
                <a:solidFill>
                  <a:schemeClr val="tx1"/>
                </a:solidFill>
                <a:effectLst/>
                <a:latin typeface="SCE-PS3 Rodin LATIN" panose="02000700000000000000" pitchFamily="2" charset="0"/>
              </a:rPr>
              <a:t>ShoeType</a:t>
            </a:r>
            <a:r>
              <a:rPr lang="en-US" sz="1200" b="1" i="0" dirty="0">
                <a:solidFill>
                  <a:schemeClr val="tx1"/>
                </a:solidFill>
                <a:effectLst/>
                <a:latin typeface="SCE-PS3 Rodin LATIN" panose="02000700000000000000" pitchFamily="2" charset="0"/>
              </a:rPr>
              <a:t> Values (Completeness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15.2% of listings have NULL </a:t>
            </a:r>
            <a:r>
              <a:rPr lang="en-US" sz="1200" b="0" i="0" dirty="0" err="1">
                <a:solidFill>
                  <a:schemeClr val="tx1"/>
                </a:solidFill>
                <a:effectLst/>
                <a:latin typeface="SCE-PS3 Rodin LATIN" panose="02000700000000000000" pitchFamily="2" charset="0"/>
              </a:rPr>
              <a:t>ShoeType</a:t>
            </a:r>
            <a:r>
              <a:rPr lang="en-US" sz="1200" b="0" i="0" dirty="0">
                <a:solidFill>
                  <a:schemeClr val="tx1"/>
                </a:solidFill>
                <a:effectLst/>
                <a:latin typeface="SCE-PS3 Rodin LATIN" panose="02000700000000000000" pitchFamily="2" charset="0"/>
              </a:rPr>
              <a:t> (e.g., </a:t>
            </a:r>
            <a:r>
              <a:rPr lang="en-US" sz="1200" b="0" i="0" dirty="0" err="1">
                <a:solidFill>
                  <a:schemeClr val="tx1"/>
                </a:solidFill>
                <a:effectLst/>
                <a:latin typeface="SCE-PS3 Rodin LATIN" panose="02000700000000000000" pitchFamily="2" charset="0"/>
              </a:rPr>
              <a:t>ListingID</a:t>
            </a:r>
            <a:r>
              <a:rPr lang="en-US" sz="1200" b="0" i="0" dirty="0">
                <a:solidFill>
                  <a:schemeClr val="tx1"/>
                </a:solidFill>
                <a:effectLst/>
                <a:latin typeface="SCE-PS3 Rodin LATIN" panose="02000700000000000000" pitchFamily="2" charset="0"/>
              </a:rPr>
              <a:t> 922399, SQL line 1712)</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Customers cannot filter/search by shoe category</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Every listing must have a shoe type specified to help customers find the right product</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listings where </a:t>
            </a:r>
            <a:r>
              <a:rPr lang="en-US" sz="1200" b="0" i="0" dirty="0" err="1">
                <a:solidFill>
                  <a:schemeClr val="tx1"/>
                </a:solidFill>
                <a:effectLst/>
                <a:latin typeface="SCE-PS3 Rodin LATIN" panose="02000700000000000000" pitchFamily="2" charset="0"/>
              </a:rPr>
              <a:t>ShoeType</a:t>
            </a:r>
            <a:r>
              <a:rPr lang="en-US" sz="1200" b="0" i="0" dirty="0">
                <a:solidFill>
                  <a:schemeClr val="tx1"/>
                </a:solidFill>
                <a:effectLst/>
                <a:latin typeface="SCE-PS3 Rodin LATIN" panose="02000700000000000000" pitchFamily="2" charset="0"/>
              </a:rPr>
              <a:t> IS NULL / COUNT of all listings) × 100</a:t>
            </a:r>
          </a:p>
          <a:p>
            <a:pPr marL="285750" indent="-285750" algn="l">
              <a:buFont typeface="+mj-lt"/>
              <a:buAutoNum type="arabicPeriod"/>
            </a:pPr>
            <a:r>
              <a:rPr lang="en-US" sz="1200" b="1" i="0" dirty="0">
                <a:solidFill>
                  <a:schemeClr val="tx1"/>
                </a:solidFill>
                <a:effectLst/>
                <a:latin typeface="SCE-PS3 Rodin LATIN" panose="02000700000000000000" pitchFamily="2" charset="0"/>
              </a:rPr>
              <a:t>Customer Name Mismatches (Consistency &amp; Accuracy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Customer Service names don't match User Service—3.8% discrepancy rate</a:t>
            </a: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Example: </a:t>
            </a:r>
            <a:r>
              <a:rPr lang="en-US" sz="1200" b="0" i="0" dirty="0" err="1">
                <a:solidFill>
                  <a:schemeClr val="tx1"/>
                </a:solidFill>
                <a:effectLst/>
                <a:latin typeface="SCE-PS3 Rodin LATIN" panose="02000700000000000000" pitchFamily="2" charset="0"/>
              </a:rPr>
              <a:t>UserID</a:t>
            </a:r>
            <a:r>
              <a:rPr lang="en-US" sz="1200" b="0" i="0" dirty="0">
                <a:solidFill>
                  <a:schemeClr val="tx1"/>
                </a:solidFill>
                <a:effectLst/>
                <a:latin typeface="SCE-PS3 Rodin LATIN" panose="02000700000000000000" pitchFamily="2" charset="0"/>
              </a:rPr>
              <a:t> 3586 shows "</a:t>
            </a:r>
            <a:r>
              <a:rPr lang="en-US" sz="1200" b="0" i="0" dirty="0" err="1">
                <a:solidFill>
                  <a:schemeClr val="tx1"/>
                </a:solidFill>
                <a:effectLst/>
                <a:latin typeface="SCE-PS3 Rodin LATIN" panose="02000700000000000000" pitchFamily="2" charset="0"/>
              </a:rPr>
              <a:t>Vamderheydem</a:t>
            </a:r>
            <a:r>
              <a:rPr lang="en-US" sz="1200" b="0" i="0" dirty="0">
                <a:solidFill>
                  <a:schemeClr val="tx1"/>
                </a:solidFill>
                <a:effectLst/>
                <a:latin typeface="SCE-PS3 Rodin LATIN" panose="02000700000000000000" pitchFamily="2" charset="0"/>
              </a:rPr>
              <a:t>" in CS (line 2380) vs "Vanderheyden" in users (line 129)</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MDM issue causing customer confusion and service delays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A customer's name in any system must exactly match the User Service system of record</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CS requests where FirstName or LastName ≠ </a:t>
            </a:r>
            <a:r>
              <a:rPr lang="en-US" sz="1200" b="0" i="0" dirty="0" err="1">
                <a:solidFill>
                  <a:schemeClr val="tx1"/>
                </a:solidFill>
                <a:effectLst/>
                <a:latin typeface="SCE-PS3 Rodin LATIN" panose="02000700000000000000" pitchFamily="2" charset="0"/>
              </a:rPr>
              <a:t>usr.users</a:t>
            </a:r>
            <a:r>
              <a:rPr lang="en-US" sz="1200" b="0" i="0" dirty="0">
                <a:solidFill>
                  <a:schemeClr val="tx1"/>
                </a:solidFill>
                <a:effectLst/>
                <a:latin typeface="SCE-PS3 Rodin LATIN" panose="02000700000000000000" pitchFamily="2" charset="0"/>
              </a:rPr>
              <a:t> for same </a:t>
            </a:r>
            <a:r>
              <a:rPr lang="en-US" sz="1200" b="0" i="0" dirty="0" err="1">
                <a:solidFill>
                  <a:schemeClr val="tx1"/>
                </a:solidFill>
                <a:effectLst/>
                <a:latin typeface="SCE-PS3 Rodin LATIN" panose="02000700000000000000" pitchFamily="2" charset="0"/>
              </a:rPr>
              <a:t>UserID</a:t>
            </a:r>
            <a:endParaRPr lang="en-US" sz="1200" b="0" i="0" dirty="0">
              <a:solidFill>
                <a:schemeClr val="tx1"/>
              </a:solidFill>
              <a:effectLst/>
              <a:latin typeface="SCE-PS3 Rodin LATIN" panose="02000700000000000000" pitchFamily="2" charset="0"/>
            </a:endParaRPr>
          </a:p>
          <a:p>
            <a:pPr marL="285750" indent="-285750" algn="l">
              <a:buFont typeface="+mj-lt"/>
              <a:buAutoNum type="arabicPeriod"/>
            </a:pPr>
            <a:r>
              <a:rPr lang="en-US" sz="1200" b="1" i="0" dirty="0">
                <a:solidFill>
                  <a:schemeClr val="tx1"/>
                </a:solidFill>
                <a:effectLst/>
                <a:latin typeface="SCE-PS3 Rodin LATIN" panose="02000700000000000000" pitchFamily="2" charset="0"/>
              </a:rPr>
              <a:t>Invalid Shoe Size Values (Validity &amp; Accuracy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0.2% of listings have size = '0' which is impossible (e.g., </a:t>
            </a:r>
            <a:r>
              <a:rPr lang="en-US" sz="1200" b="0" i="0" dirty="0" err="1">
                <a:solidFill>
                  <a:schemeClr val="tx1"/>
                </a:solidFill>
                <a:effectLst/>
                <a:latin typeface="SCE-PS3 Rodin LATIN" panose="02000700000000000000" pitchFamily="2" charset="0"/>
              </a:rPr>
              <a:t>ListingID</a:t>
            </a:r>
            <a:r>
              <a:rPr lang="en-US" sz="1200" b="0" i="0" dirty="0">
                <a:solidFill>
                  <a:schemeClr val="tx1"/>
                </a:solidFill>
                <a:effectLst/>
                <a:latin typeface="SCE-PS3 Rodin LATIN" panose="02000700000000000000" pitchFamily="2" charset="0"/>
              </a:rPr>
              <a:t> 780492, line 1730)</a:t>
            </a: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Valid sizes range from 0.5 (infant) to 22 (adult)</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Incorrect product information, customer returns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Every shoe listing must have a valid size between 0.5 and 22</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listings WHERE Size = '0' OR Size NOT BETWEEN 0.5 AND 22</a:t>
            </a:r>
          </a:p>
          <a:p>
            <a:pPr marL="285750" indent="-285750" algn="l">
              <a:buFont typeface="+mj-lt"/>
              <a:buAutoNum type="arabicPeriod"/>
            </a:pPr>
            <a:r>
              <a:rPr lang="en-US" sz="1200" b="1" i="0" dirty="0">
                <a:solidFill>
                  <a:schemeClr val="tx1"/>
                </a:solidFill>
                <a:effectLst/>
                <a:latin typeface="SCE-PS3 Rodin LATIN" panose="02000700000000000000" pitchFamily="2" charset="0"/>
              </a:rPr>
              <a:t>Missing Arrival Dates (Completeness &amp; Timeliness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8.7% of warehouse items missing </a:t>
            </a:r>
            <a:r>
              <a:rPr lang="en-US" sz="1200" b="0" i="0" dirty="0" err="1">
                <a:solidFill>
                  <a:schemeClr val="tx1"/>
                </a:solidFill>
                <a:effectLst/>
                <a:latin typeface="SCE-PS3 Rodin LATIN" panose="02000700000000000000" pitchFamily="2" charset="0"/>
              </a:rPr>
              <a:t>ArrivalDate</a:t>
            </a:r>
            <a:r>
              <a:rPr lang="en-US" sz="1200" b="0" i="0" dirty="0">
                <a:solidFill>
                  <a:schemeClr val="tx1"/>
                </a:solidFill>
                <a:effectLst/>
                <a:latin typeface="SCE-PS3 Rodin LATIN" panose="02000700000000000000" pitchFamily="2" charset="0"/>
              </a:rPr>
              <a:t> (e.g., </a:t>
            </a:r>
            <a:r>
              <a:rPr lang="en-US" sz="1200" b="0" i="0" dirty="0" err="1">
                <a:solidFill>
                  <a:schemeClr val="tx1"/>
                </a:solidFill>
                <a:effectLst/>
                <a:latin typeface="SCE-PS3 Rodin LATIN" panose="02000700000000000000" pitchFamily="2" charset="0"/>
              </a:rPr>
              <a:t>ItemID</a:t>
            </a:r>
            <a:r>
              <a:rPr lang="en-US" sz="1200" b="0" i="0" dirty="0">
                <a:solidFill>
                  <a:schemeClr val="tx1"/>
                </a:solidFill>
                <a:effectLst/>
                <a:latin typeface="SCE-PS3 Rodin LATIN" panose="02000700000000000000" pitchFamily="2" charset="0"/>
              </a:rPr>
              <a:t> 46646, line 527)</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Cannot enforce 45-day listing deadline—items may expire without warning</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Every item received at warehouse must have arrival date recorded to track 45-day deadline</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items where </a:t>
            </a:r>
            <a:r>
              <a:rPr lang="en-US" sz="1200" b="0" i="0" dirty="0" err="1">
                <a:solidFill>
                  <a:schemeClr val="tx1"/>
                </a:solidFill>
                <a:effectLst/>
                <a:latin typeface="SCE-PS3 Rodin LATIN" panose="02000700000000000000" pitchFamily="2" charset="0"/>
              </a:rPr>
              <a:t>ArrivalDate</a:t>
            </a:r>
            <a:r>
              <a:rPr lang="en-US" sz="1200" b="0" i="0" dirty="0">
                <a:solidFill>
                  <a:schemeClr val="tx1"/>
                </a:solidFill>
                <a:effectLst/>
                <a:latin typeface="SCE-PS3 Rodin LATIN" panose="02000700000000000000" pitchFamily="2" charset="0"/>
              </a:rPr>
              <a:t> IS NULL / COUNT of all items) × 100</a:t>
            </a:r>
          </a:p>
          <a:p>
            <a:pPr algn="l"/>
            <a:endParaRPr lang="en-US" sz="1200" b="1" dirty="0">
              <a:solidFill>
                <a:schemeClr val="tx1"/>
              </a:solidFill>
              <a:latin typeface="SCE-PS3 Rodin LATIN" panose="02000700000000000000" pitchFamily="2" charset="0"/>
            </a:endParaRPr>
          </a:p>
          <a:p>
            <a:pPr marL="228600" indent="-228600" algn="l">
              <a:buFont typeface="+mj-lt"/>
              <a:buAutoNum type="arabicPeriod"/>
            </a:pPr>
            <a:r>
              <a:rPr lang="en-US" sz="1200" b="1" i="0" dirty="0">
                <a:solidFill>
                  <a:schemeClr val="tx1"/>
                </a:solidFill>
                <a:effectLst/>
                <a:latin typeface="SCE-PS3 Rodin LATIN" panose="02000700000000000000" pitchFamily="2" charset="0"/>
              </a:rPr>
              <a:t>Future/Preventive Issue (1):</a:t>
            </a:r>
            <a:endParaRPr lang="en-US" sz="1200" b="0" i="0" dirty="0">
              <a:solidFill>
                <a:schemeClr val="tx1"/>
              </a:solidFill>
              <a:effectLst/>
              <a:latin typeface="SCE-PS3 Rodin LATIN" panose="02000700000000000000" pitchFamily="2" charset="0"/>
            </a:endParaRPr>
          </a:p>
          <a:p>
            <a:pPr marL="285750"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Risk of Duplicate User Accounts (Uniqueness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Potential for users creating multiple accounts with slight email/name variations</a:t>
            </a: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Example scenarios: </a:t>
            </a:r>
            <a:r>
              <a:rPr lang="en-US" sz="1200" b="0" i="0" dirty="0">
                <a:solidFill>
                  <a:schemeClr val="tx1"/>
                </a:solidFill>
                <a:effectLst/>
                <a:latin typeface="SCE-PS3 Rodin LATIN" panose="02000700000000000000" pitchFamily="2" charset="0"/>
                <a:hlinkClick r:id="rId3">
                  <a:extLst>
                    <a:ext uri="{A12FA001-AC4F-418D-AE19-62706E023703}">
                      <ahyp:hlinkClr xmlns:ahyp="http://schemas.microsoft.com/office/drawing/2018/hyperlinkcolor" val="tx"/>
                    </a:ext>
                  </a:extLst>
                </a:hlinkClick>
              </a:rPr>
              <a:t>john.smith@gmail.com</a:t>
            </a:r>
            <a:r>
              <a:rPr lang="en-US" sz="1200" b="0" i="0" dirty="0">
                <a:solidFill>
                  <a:schemeClr val="tx1"/>
                </a:solidFill>
                <a:effectLst/>
                <a:latin typeface="SCE-PS3 Rodin LATIN" panose="02000700000000000000" pitchFamily="2" charset="0"/>
              </a:rPr>
              <a:t> vs </a:t>
            </a:r>
            <a:r>
              <a:rPr lang="en-US" sz="1200" b="0" i="0" dirty="0">
                <a:solidFill>
                  <a:schemeClr val="tx1"/>
                </a:solidFill>
                <a:effectLst/>
                <a:latin typeface="SCE-PS3 Rodin LATIN" panose="02000700000000000000" pitchFamily="2" charset="0"/>
                <a:hlinkClick r:id="rId4">
                  <a:extLst>
                    <a:ext uri="{A12FA001-AC4F-418D-AE19-62706E023703}">
                      <ahyp:hlinkClr xmlns:ahyp="http://schemas.microsoft.com/office/drawing/2018/hyperlinkcolor" val="tx"/>
                    </a:ext>
                  </a:extLst>
                </a:hlinkClick>
              </a:rPr>
              <a:t>john.smith@yahoo.com</a:t>
            </a:r>
            <a:r>
              <a:rPr lang="en-US" sz="1200" b="0" i="0" dirty="0">
                <a:solidFill>
                  <a:schemeClr val="tx1"/>
                </a:solidFill>
                <a:effectLst/>
                <a:latin typeface="SCE-PS3 Rodin LATIN" panose="02000700000000000000" pitchFamily="2" charset="0"/>
              </a:rPr>
              <a:t>, or "Robert Johnson" vs "Rob Johnson" at same address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Fragmented customer history, potential fraud, inaccurate analytics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Each person should have only one user account to maintain accurate customer history and prevent fraud</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user pairs WHERE (same email domain + similar name) OR (same address + similar name)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11" name="Picture 10" descr="A screenshot of a computer&#10;&#10;AI-generated content may be incorrect.">
            <a:extLst>
              <a:ext uri="{FF2B5EF4-FFF2-40B4-BE49-F238E27FC236}">
                <a16:creationId xmlns:a16="http://schemas.microsoft.com/office/drawing/2014/main" id="{1A9C0748-DF95-BCE2-8716-E303A1E72EF2}"/>
              </a:ext>
            </a:extLst>
          </p:cNvPr>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5" name="Picture 4" descr="A diagram of a computer&#10;&#10;AI-generated content may be incorrect.">
            <a:extLst>
              <a:ext uri="{FF2B5EF4-FFF2-40B4-BE49-F238E27FC236}">
                <a16:creationId xmlns:a16="http://schemas.microsoft.com/office/drawing/2014/main" id="{2BE32B47-2630-223F-747A-78101DB98855}"/>
              </a:ext>
            </a:extLst>
          </p:cNvPr>
          <p:cNvPicPr>
            <a:picLocks noChangeAspect="1"/>
          </p:cNvPicPr>
          <p:nvPr/>
        </p:nvPicPr>
        <p:blipFill>
          <a:blip r:embed="rId3"/>
          <a:stretch>
            <a:fillRect/>
          </a:stretch>
        </p:blipFill>
        <p:spPr>
          <a:xfrm>
            <a:off x="1524700" y="0"/>
            <a:ext cx="4723000" cy="10058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4"/>
            <a:ext cx="6911010" cy="7034815"/>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Clr>
                <a:schemeClr val="dk1"/>
              </a:buClr>
              <a:buSzPts val="1100"/>
              <a:buFont typeface="Arial"/>
              <a:buNone/>
            </a:pPr>
            <a:r>
              <a:rPr lang="en" sz="18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sym typeface="Open Sans"/>
              </a:rPr>
              <a:t>Explanation: </a:t>
            </a:r>
            <a:r>
              <a:rPr lang="en-US" sz="18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Hybrid MDM Architecture</a:t>
            </a:r>
            <a:endParaRPr lang="en-US" sz="18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a:p>
            <a:pPr algn="just"/>
            <a:endParaRPr lang="en-US" sz="12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a:p>
            <a:pPr marL="38100" indent="0" algn="just">
              <a:buNone/>
            </a:pPr>
            <a:r>
              <a:rPr lang="en-US" sz="1600" dirty="0" err="1">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SneakerPark</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requires a </a:t>
            </a:r>
            <a:r>
              <a:rPr lang="en-US" sz="16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Hybrid MDM</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combining Centralized and Registry styles to balance competing needs. We recommend </a:t>
            </a:r>
            <a:r>
              <a:rPr lang="en-US" sz="16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Centralized MDM for Customer data</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because customers appear across three systems (User Service, Customer Service, Order Processing) with critical quality issues like name mismatches and potential duplicates that require active stewardship and a single source of truth for GDPR compliance. Conversely, we recommend </a:t>
            </a:r>
            <a:r>
              <a:rPr lang="en-US" sz="16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Registry MDM for Item data</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because the Inventory Management system is isolated with batch-only integration, item data is relatively clean, and a lightweight cross-reference index (</a:t>
            </a:r>
            <a:r>
              <a:rPr lang="en-US" sz="1600" dirty="0" err="1">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ItemID</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 </a:t>
            </a:r>
            <a:r>
              <a:rPr lang="en-US" sz="1600" dirty="0" err="1">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ListingID</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provides the needed performance without disrupting the customer-facing Listing Service. This hybrid approach minimizes risk to critical systems, Order Processing (99.999% uptime) remains untouched until final phases, while enabling Jessica to resolve customer data conflicts through golden records and allowing Jake to maintain infrastructure alongside current duties. The phased 12-month implementation starts with low-impact item indexing and batch integration, gradually introducing real-time customer data synchronization only after the foundation proves stable, ultimately reducing data quality issues by 75% and firefighting workload by 80% without business disruption.</a:t>
            </a:r>
          </a:p>
          <a:p>
            <a:pPr marL="0" lvl="0" indent="0" algn="just" rtl="0">
              <a:spcBef>
                <a:spcPts val="0"/>
              </a:spcBef>
              <a:spcAft>
                <a:spcPts val="1600"/>
              </a:spcAft>
              <a:buClr>
                <a:schemeClr val="dk1"/>
              </a:buClr>
              <a:buSzPts val="1100"/>
              <a:buFont typeface="Arial"/>
              <a:buNone/>
            </a:pPr>
            <a:endParaRPr lang="en-US" sz="1200" dirty="0">
              <a:solidFill>
                <a:schemeClr val="tx1"/>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dirty="0">
                <a:solidFill>
                  <a:srgbClr val="FFFFFF"/>
                </a:solidFill>
                <a:latin typeface="Open Sans"/>
                <a:ea typeface="Open Sans"/>
                <a:cs typeface="Open Sans"/>
                <a:sym typeface="Open Sans"/>
              </a:rPr>
              <a:t>Step 6</a:t>
            </a:r>
            <a:endParaRPr sz="3000" b="1" dirty="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dirty="0">
                <a:solidFill>
                  <a:srgbClr val="FFFFFF"/>
                </a:solidFill>
                <a:latin typeface="Open Sans"/>
                <a:ea typeface="Open Sans"/>
                <a:cs typeface="Open Sans"/>
                <a:sym typeface="Open Sans"/>
              </a:rPr>
              <a:t>Master Data Management</a:t>
            </a:r>
            <a:endParaRPr sz="3000" dirty="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dirty="0">
                <a:solidFill>
                  <a:schemeClr val="lt1"/>
                </a:solidFill>
                <a:latin typeface="Open Sans"/>
                <a:ea typeface="Open Sans"/>
                <a:cs typeface="Open Sans"/>
                <a:sym typeface="Open Sans"/>
              </a:rPr>
              <a:t>Part 2: Master Record</a:t>
            </a:r>
            <a:endParaRPr sz="3000" dirty="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5" name="TextBox 4">
            <a:extLst>
              <a:ext uri="{FF2B5EF4-FFF2-40B4-BE49-F238E27FC236}">
                <a16:creationId xmlns:a16="http://schemas.microsoft.com/office/drawing/2014/main" id="{218F82A4-7314-FCF5-F394-D6ECA70674B4}"/>
              </a:ext>
            </a:extLst>
          </p:cNvPr>
          <p:cNvSpPr txBox="1"/>
          <p:nvPr/>
        </p:nvSpPr>
        <p:spPr>
          <a:xfrm>
            <a:off x="497840" y="496759"/>
            <a:ext cx="6766560" cy="8525411"/>
          </a:xfrm>
          <a:prstGeom prst="rect">
            <a:avLst/>
          </a:prstGeom>
          <a:noFill/>
        </p:spPr>
        <p:txBody>
          <a:bodyPr wrap="square">
            <a:spAutoFit/>
          </a:bodyPr>
          <a:lstStyle/>
          <a:p>
            <a:pPr algn="l"/>
            <a:r>
              <a:rPr lang="en-US" sz="18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MDM Matching Rules</a:t>
            </a:r>
          </a:p>
          <a:p>
            <a:pPr marL="171450" indent="-171450" algn="l">
              <a:buFont typeface="Arial" panose="020B0604020202020204" pitchFamily="34" charset="0"/>
              <a:buChar cha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endPar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r>
              <a:rPr lang="en-US"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Customer Matching Rules:</a:t>
            </a:r>
          </a:p>
          <a:p>
            <a:pPr algn="l"/>
            <a:endParaRPr lang="en-US"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Email + Name Match (High Confidence - 95%+)</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Exact email match AND (exact name match OR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Levenshtein</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distance ≤ 2 on LastName)</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john.smith@gmail.com</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"John Smith" matches </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john.smith@gmail.com</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"John Smyth" (typo tolerance)</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Identify same person across User Service, Customer Service, and Order Processing</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95% → Auto-merge | 85-94% → Steward review | &lt; 85% → No match</a:t>
            </a: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Address + Phone Match (Medium Confidence - 85-95%)</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Standardized address match (same street number, street name, zip) AND similar name (first 3 letters of LastName + FirstName initial)</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"123 Main St, 10001" + "R. Johnson" matches "123 Main Street, 10001" + "Robert Johnson"</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Catch duplicates where user registered with different email but same physical location</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90% → Steward review | &lt; 90% → Flag for investigation</a:t>
            </a:r>
          </a:p>
          <a:p>
            <a:pPr marL="742950" lvl="1" indent="-285750" algn="l">
              <a:buFont typeface="Arial" panose="020B0604020202020204" pitchFamily="34" charset="0"/>
              <a:buChar char="•"/>
            </a:pP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r>
              <a:rPr lang="en-US"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 Matching Rules:</a:t>
            </a:r>
          </a:p>
          <a:p>
            <a:pPr marL="171450" indent="-171450" algn="l">
              <a:buFont typeface="Arial" panose="020B0604020202020204" pitchFamily="34" charset="0"/>
              <a:buChar char="•"/>
            </a:pPr>
            <a:endParaRPr lang="en-US"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Physical Characteristics Match (High Confidence - 95%+)</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lnSpc>
                <a:spcPct val="150000"/>
              </a:lnSpc>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Exact match on Brand AND Color AND Size AND Condition AND Gender</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im.Items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(Brand="Nike", Color="White", Size=10.5, Condition="New", Sex="Male") matches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li.listings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(Brand="Nike", Color="White", Size=10.5, Condition="New", Gender="M")</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Link authenticated warehouse items to marketplace listings</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All 5 attributes match → Same physical item | 4/5 match → Review | &lt; 4/5 → Different items</a:t>
            </a: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Seller + </a:t>
            </a:r>
            <a:r>
              <a:rPr lang="en-US"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ItemID</a:t>
            </a: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Match (Very High Confidence - 98%+)</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Same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SellerID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UserID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AND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exists in both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im.Items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and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li.listings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within 45-day window</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SellerID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25516 ships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2333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ArrivalDate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2020-09-15), then creates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ListingID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922399 with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ProductID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509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ListingCreateDate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2020-10-06) → Same item</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Cross-reference inventory items to listings using business process timeline</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98% → Definite match (create cross-reference) | &lt; 98% → Data quality issue (investigate delay)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1"/>
          <p:cNvSpPr txBox="1"/>
          <p:nvPr/>
        </p:nvSpPr>
        <p:spPr>
          <a:xfrm>
            <a:off x="457200" y="447674"/>
            <a:ext cx="6842100" cy="7294245"/>
          </a:xfrm>
          <a:prstGeom prst="rect">
            <a:avLst/>
          </a:prstGeom>
          <a:noFill/>
          <a:ln>
            <a:noFill/>
          </a:ln>
        </p:spPr>
        <p:txBody>
          <a:bodyPr spcFirstLastPara="1" wrap="square" lIns="91425" tIns="91425" rIns="91425" bIns="91425" anchor="t" anchorCtr="0">
            <a:noAutofit/>
          </a:bodyPr>
          <a:lstStyle/>
          <a:p>
            <a:pPr algn="just"/>
            <a:r>
              <a:rPr lang="en-US" sz="1600" b="1" dirty="0">
                <a:latin typeface="Open Sans" panose="020B0606030504020204" pitchFamily="34" charset="0"/>
                <a:ea typeface="Open Sans" panose="020B0606030504020204" pitchFamily="34" charset="0"/>
                <a:cs typeface="Open Sans" panose="020B0606030504020204" pitchFamily="34" charset="0"/>
              </a:rPr>
              <a:t>Data Governance Roles and Responsibilities</a:t>
            </a:r>
          </a:p>
          <a:p>
            <a:pPr algn="just"/>
            <a:endPar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endParaRPr>
          </a:p>
          <a:p>
            <a:pPr algn="just"/>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SneakerPark's</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Data Management initiative requires governance across three critical areas: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Data Quality Management</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Master Data Management (MDM)</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and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Metadata Management</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For Data Quality Management, we need a Data Quality Manager to define and monitor DQ rules, oversee the quality scoring engine, coordinate remediation of the five identified issues (missing </a:t>
            </a:r>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ShoeType</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name mismatches, invalid sizes, missing arrival dates, duplicate accounts), and manage the monitoring dashboard. For MDM, an MDM Architect is essential to design and maintain the Hybrid MDM architecture, manage the matching engine with our four matching rules, and oversee integration between golden customer records and the item cross-reference index. For Metadata Management, we need a Data Steward Lead to maintain the Enterprise Data Catalog, ensure business glossary terms remain current, enforce naming conventions across systems, and manage business metadata for all eight tables. Additionally, domain-specific stewards are needed to resolve customer conflicts, approve merges, backfill missing data, and validate warehouse item attributes.</a:t>
            </a:r>
          </a:p>
          <a:p>
            <a:pPr algn="just"/>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t>
            </a:r>
            <a:endParaRPr lang="en-US" sz="1600" dirty="0">
              <a:highlight>
                <a:srgbClr val="FFFFFF"/>
              </a:highlight>
              <a:latin typeface="Open Sans" panose="020B0606030504020204" pitchFamily="34" charset="0"/>
              <a:ea typeface="Open Sans" panose="020B0606030504020204" pitchFamily="34" charset="0"/>
              <a:cs typeface="Open Sans" panose="020B0606030504020204" pitchFamily="34" charset="0"/>
            </a:endParaRPr>
          </a:p>
          <a:p>
            <a:pPr algn="just"/>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Based on </a:t>
            </a:r>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SneakerPark's</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current team,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Jessica should be promoted to Lead Data Steward</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given her subject matter expertise and ability to identify data issues across all systems.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Jake should receive MDM training</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to take on administration responsibilities alongside his current database role, as he has the technical foundation but needs education on MDM platforms like Talend and integration tools like </a:t>
            </a:r>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Debezium</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and Kafka. However, </a:t>
            </a:r>
            <a:r>
              <a:rPr lang="en-US" b="1"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SneakerPark</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 must hire two new positions</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an experienced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MDM Architect</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(too specialized for internal promotion) and a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Data Quality Manager</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to establish the quality framework and metrics program. The Customer Service team can provide domain stewards for customer data after training, and the warehouse team can steward inventory data. This approach balances leveraging existing knowledge with bringing in specialized expertise while keeping headcount realistic at four governance roles total (2 new hires, 2 promotions). This team will reduce firefighting workload by 80% and improve data quality scores from 85% to over 95%.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07"/>
        <p:cNvGrpSpPr/>
        <p:nvPr/>
      </p:nvGrpSpPr>
      <p:grpSpPr>
        <a:xfrm>
          <a:off x="0" y="0"/>
          <a:ext cx="0" cy="0"/>
          <a:chOff x="0" y="0"/>
          <a:chExt cx="0" cy="0"/>
        </a:xfrm>
      </p:grpSpPr>
      <p:sp>
        <p:nvSpPr>
          <p:cNvPr id="308" name="Google Shape;308;p72"/>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Standout Suggestions</a:t>
            </a:r>
            <a:endParaRPr sz="3000">
              <a:solidFill>
                <a:srgbClr val="FFFFFF"/>
              </a:solidFill>
              <a:latin typeface="Open Sans"/>
              <a:ea typeface="Open Sans"/>
              <a:cs typeface="Open Sans"/>
              <a:sym typeface="Open Sans"/>
            </a:endParaRPr>
          </a:p>
        </p:txBody>
      </p:sp>
      <p:sp>
        <p:nvSpPr>
          <p:cNvPr id="309" name="Google Shape;309;p72"/>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C5E0227-F66A-EF46-9ABC-1F539E2FE08A}"/>
              </a:ext>
            </a:extLst>
          </p:cNvPr>
          <p:cNvPicPr>
            <a:picLocks noChangeAspect="1"/>
          </p:cNvPicPr>
          <p:nvPr/>
        </p:nvPicPr>
        <p:blipFill>
          <a:blip r:embed="rId3"/>
          <a:stretch>
            <a:fillRect/>
          </a:stretch>
        </p:blipFill>
        <p:spPr>
          <a:xfrm>
            <a:off x="0" y="721360"/>
            <a:ext cx="7772400" cy="7191357"/>
          </a:xfrm>
          <a:prstGeom prst="rect">
            <a:avLst/>
          </a:prstGeom>
        </p:spPr>
      </p:pic>
      <p:sp>
        <p:nvSpPr>
          <p:cNvPr id="5" name="TextBox 4">
            <a:extLst>
              <a:ext uri="{FF2B5EF4-FFF2-40B4-BE49-F238E27FC236}">
                <a16:creationId xmlns:a16="http://schemas.microsoft.com/office/drawing/2014/main" id="{3DDE4049-B4BF-D74A-2999-4450F4DF35DA}"/>
              </a:ext>
            </a:extLst>
          </p:cNvPr>
          <p:cNvSpPr txBox="1"/>
          <p:nvPr/>
        </p:nvSpPr>
        <p:spPr>
          <a:xfrm>
            <a:off x="0" y="114310"/>
            <a:ext cx="4876800"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High-Priority Fixes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E589CA92-76BB-8569-2529-CF90D5BD97C4}"/>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2D954E3-D0F7-ECBF-3F82-B4101E88BEA1}"/>
              </a:ext>
            </a:extLst>
          </p:cNvPr>
          <p:cNvPicPr>
            <a:picLocks noChangeAspect="1"/>
          </p:cNvPicPr>
          <p:nvPr/>
        </p:nvPicPr>
        <p:blipFill>
          <a:blip r:embed="rId3"/>
          <a:stretch>
            <a:fillRect/>
          </a:stretch>
        </p:blipFill>
        <p:spPr>
          <a:xfrm>
            <a:off x="567690" y="1169670"/>
            <a:ext cx="6637020" cy="4244340"/>
          </a:xfrm>
          <a:prstGeom prst="rect">
            <a:avLst/>
          </a:prstGeom>
        </p:spPr>
      </p:pic>
      <p:sp>
        <p:nvSpPr>
          <p:cNvPr id="4" name="TextBox 3">
            <a:extLst>
              <a:ext uri="{FF2B5EF4-FFF2-40B4-BE49-F238E27FC236}">
                <a16:creationId xmlns:a16="http://schemas.microsoft.com/office/drawing/2014/main" id="{251CCD09-60EE-B5A3-8273-D9FC2BE37F4B}"/>
              </a:ext>
            </a:extLst>
          </p:cNvPr>
          <p:cNvSpPr txBox="1"/>
          <p:nvPr/>
        </p:nvSpPr>
        <p:spPr>
          <a:xfrm>
            <a:off x="0" y="114310"/>
            <a:ext cx="4876800"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Business Glossary</a:t>
            </a:r>
          </a:p>
        </p:txBody>
      </p:sp>
    </p:spTree>
    <p:extLst>
      <p:ext uri="{BB962C8B-B14F-4D97-AF65-F5344CB8AC3E}">
        <p14:creationId xmlns:p14="http://schemas.microsoft.com/office/powerpoint/2010/main" val="230136891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1764</Words>
  <Application>Microsoft Office PowerPoint</Application>
  <PresentationFormat>Custom</PresentationFormat>
  <Paragraphs>104</Paragraphs>
  <Slides>21</Slides>
  <Notes>21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21</vt:i4>
      </vt:variant>
    </vt:vector>
  </HeadingPairs>
  <TitlesOfParts>
    <vt:vector size="30" baseType="lpstr">
      <vt:lpstr>Arial</vt:lpstr>
      <vt:lpstr>SCE-PS3 Rodin LATIN</vt:lpstr>
      <vt:lpstr>Open Sans Light</vt:lpstr>
      <vt:lpstr>Open Sans</vt:lpstr>
      <vt:lpstr>Helvetica Neue</vt:lpstr>
      <vt:lpstr>Simple Light</vt:lpstr>
      <vt:lpstr>Simple Light</vt:lpstr>
      <vt:lpstr>Simple Light</vt:lpstr>
      <vt:lpstr>White</vt:lpstr>
      <vt:lpstr>Data Governance @ SneakerPark </vt:lpstr>
      <vt:lpstr>Background</vt:lpstr>
      <vt:lpstr>Background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O'Hara</cp:lastModifiedBy>
  <cp:revision>2</cp:revision>
  <dcterms:modified xsi:type="dcterms:W3CDTF">2025-11-17T12:11:30Z</dcterms:modified>
</cp:coreProperties>
</file>