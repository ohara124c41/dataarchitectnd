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5" r:id="rId7"/>
    <p:sldId id="262" r:id="rId8"/>
    <p:sldId id="263" r:id="rId9"/>
    <p:sldId id="264" r:id="rId10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946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70de937195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70de937195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875c2255bd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875c2255bd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8fe4879d55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8fe4879d55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8fe4879d55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8fe4879d55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8fe4879d55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8fe4879d55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27FA3417-14C5-DF16-9B1B-DDC59BC0B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8fe4879d55_0_45:notes">
            <a:extLst>
              <a:ext uri="{FF2B5EF4-FFF2-40B4-BE49-F238E27FC236}">
                <a16:creationId xmlns:a16="http://schemas.microsoft.com/office/drawing/2014/main" id="{69D7A793-1BD2-2400-2AE6-480AE24F82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8fe4879d55_0_45:notes">
            <a:extLst>
              <a:ext uri="{FF2B5EF4-FFF2-40B4-BE49-F238E27FC236}">
                <a16:creationId xmlns:a16="http://schemas.microsoft.com/office/drawing/2014/main" id="{41EDF46B-3294-8C4B-7C5E-15297ECC85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9621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8fe4879d55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8fe4879d55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8fe4879d55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8fe4879d55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875c2255bd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875c2255bd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DO NOT USE] - Guidelines Slides" type="secHead">
  <p:cSld name="SECTION_HEAD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ard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086350" y="2198475"/>
            <a:ext cx="4886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400"/>
              <a:buFont typeface="Open Sans"/>
              <a:buNone/>
              <a:defRPr sz="2400" b="1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2086350" y="2834125"/>
            <a:ext cx="4886700" cy="47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 sz="2800">
                <a:solidFill>
                  <a:srgbClr val="2E3D49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 sz="2800">
                <a:solidFill>
                  <a:srgbClr val="2E3D49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 sz="2800">
                <a:solidFill>
                  <a:srgbClr val="2E3D49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 sz="2800">
                <a:solidFill>
                  <a:srgbClr val="2E3D49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 sz="2800">
                <a:solidFill>
                  <a:srgbClr val="2E3D49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 sz="2800">
                <a:solidFill>
                  <a:srgbClr val="2E3D49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 sz="2800">
                <a:solidFill>
                  <a:srgbClr val="2E3D49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 sz="2800">
                <a:solidFill>
                  <a:srgbClr val="2E3D4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Box (small)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1048800" y="1129475"/>
            <a:ext cx="7046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Font typeface="Open Sans"/>
              <a:buNone/>
              <a:defRPr sz="2000" b="1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1066775" y="1962650"/>
            <a:ext cx="7046400" cy="19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 sz="14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Box (large)">
  <p:cSld name="ONE_COLUM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605400" y="1787750"/>
            <a:ext cx="7867200" cy="28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 sz="14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2"/>
          </p:nvPr>
        </p:nvSpPr>
        <p:spPr>
          <a:xfrm>
            <a:off x="605400" y="1180500"/>
            <a:ext cx="7933200" cy="47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605400" y="473950"/>
            <a:ext cx="793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Font typeface="Open Sans"/>
              <a:buNone/>
              <a:defRPr sz="2000" b="1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st (10 items, 1 box)">
  <p:cSld name="ONE_COLUMN_TEXT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605400" y="473950"/>
            <a:ext cx="793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Font typeface="Open Sans"/>
              <a:buNone/>
              <a:defRPr sz="2000" b="1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604750" y="1337500"/>
            <a:ext cx="3595500" cy="33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 sz="14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4877050" y="1337500"/>
            <a:ext cx="3595500" cy="33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 sz="14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st (up to 6 items, 1 box)">
  <p:cSld name="MAIN_POI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266500" y="701850"/>
            <a:ext cx="5205900" cy="39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 sz="14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605400" y="473950"/>
            <a:ext cx="250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Font typeface="Open Sans"/>
              <a:buNone/>
              <a:defRPr sz="2000" b="1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ubTitle" idx="2"/>
          </p:nvPr>
        </p:nvSpPr>
        <p:spPr>
          <a:xfrm>
            <a:off x="605400" y="1180500"/>
            <a:ext cx="2509200" cy="47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s or icons (with title)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605400" y="473950"/>
            <a:ext cx="793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Font typeface="Open Sans"/>
              <a:buNone/>
              <a:defRPr sz="2000" b="1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s or icons (w/o title)">
  <p:cSld name="BLANK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s or icons (with text)">
  <p:cSld name="BLANK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title"/>
          </p:nvPr>
        </p:nvSpPr>
        <p:spPr>
          <a:xfrm>
            <a:off x="605400" y="473950"/>
            <a:ext cx="793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Font typeface="Open Sans"/>
              <a:buNone/>
              <a:defRPr sz="2000" b="1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4876950" y="1337500"/>
            <a:ext cx="3661500" cy="33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 sz="14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4600" y="525150"/>
            <a:ext cx="7938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Font typeface="Open Sans"/>
              <a:buNone/>
              <a:defRPr sz="2000" b="1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 sz="2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 sz="2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 sz="2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 sz="2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 sz="2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 sz="2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 sz="2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 sz="2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91500" y="1293900"/>
            <a:ext cx="7971900" cy="32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120625" y="4815050"/>
            <a:ext cx="2072700" cy="1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Confidential</a:t>
            </a:r>
            <a:endParaRPr sz="80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2"/>
          <p:cNvPicPr preferRelativeResize="0"/>
          <p:nvPr/>
        </p:nvPicPr>
        <p:blipFill rotWithShape="1">
          <a:blip r:embed="rId3">
            <a:alphaModFix/>
          </a:blip>
          <a:srcRect l="9957" t="35735" r="10513" b="35787"/>
          <a:stretch/>
        </p:blipFill>
        <p:spPr>
          <a:xfrm>
            <a:off x="2963449" y="497350"/>
            <a:ext cx="3217100" cy="86389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2086350" y="2198475"/>
            <a:ext cx="4886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Data Lake Value Proposition</a:t>
            </a:r>
            <a:endParaRPr sz="2200" b="0"/>
          </a:p>
        </p:txBody>
      </p:sp>
      <p:sp>
        <p:nvSpPr>
          <p:cNvPr id="56" name="Google Shape;56;p12"/>
          <p:cNvSpPr txBox="1">
            <a:spLocks noGrp="1"/>
          </p:cNvSpPr>
          <p:nvPr>
            <p:ph type="subTitle" idx="1"/>
          </p:nvPr>
        </p:nvSpPr>
        <p:spPr>
          <a:xfrm>
            <a:off x="2128649" y="3107175"/>
            <a:ext cx="4886700" cy="47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Christopher O’Hara, PhD, EngD</a:t>
            </a:r>
            <a:endParaRPr dirty="0"/>
          </a:p>
        </p:txBody>
      </p:sp>
      <p:sp>
        <p:nvSpPr>
          <p:cNvPr id="57" name="Google Shape;57;p12"/>
          <p:cNvSpPr txBox="1"/>
          <p:nvPr/>
        </p:nvSpPr>
        <p:spPr>
          <a:xfrm>
            <a:off x="7705200" y="4829825"/>
            <a:ext cx="156480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Udacity IPS Version 1.0</a:t>
            </a:r>
            <a:endParaRPr sz="80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" name="Google Shape;58;p12"/>
          <p:cNvSpPr txBox="1"/>
          <p:nvPr/>
        </p:nvSpPr>
        <p:spPr>
          <a:xfrm>
            <a:off x="2128649" y="2668488"/>
            <a:ext cx="4886700" cy="331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Open Sans"/>
                <a:ea typeface="Open Sans"/>
                <a:cs typeface="Open Sans"/>
                <a:sym typeface="Open Sans"/>
              </a:rPr>
              <a:t>Medical Data Processing Company</a:t>
            </a:r>
            <a:endParaRPr dirty="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title"/>
          </p:nvPr>
        </p:nvSpPr>
        <p:spPr>
          <a:xfrm>
            <a:off x="1048800" y="1129475"/>
            <a:ext cx="7046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666666"/>
                </a:solidFill>
              </a:rPr>
              <a:t>Agenda</a:t>
            </a:r>
            <a:endParaRPr sz="3000">
              <a:solidFill>
                <a:srgbClr val="666666"/>
              </a:solidFill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7705200" y="4829825"/>
            <a:ext cx="156480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Udacity IPS Ver. 1 2/2020</a:t>
            </a:r>
            <a:endParaRPr sz="80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" name="Google Shape;65;p13"/>
          <p:cNvSpPr txBox="1">
            <a:spLocks noGrp="1"/>
          </p:cNvSpPr>
          <p:nvPr>
            <p:ph type="body" idx="1"/>
          </p:nvPr>
        </p:nvSpPr>
        <p:spPr>
          <a:xfrm>
            <a:off x="1066775" y="1962650"/>
            <a:ext cx="7046400" cy="19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What is a Data Lake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Components of a Data Lake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Data Lake vs Data Warehouse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Business Value of Data Lake Solution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Proposed Data Lake Architecture for Medical Data Processing system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605400" y="1787750"/>
            <a:ext cx="7867200" cy="28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z="2000" b="1" dirty="0"/>
              <a:t>A Data Lake </a:t>
            </a:r>
            <a:r>
              <a:rPr lang="en-US" sz="2000" dirty="0"/>
              <a:t>is a </a:t>
            </a:r>
            <a:r>
              <a:rPr lang="en-US" sz="2000" b="1" dirty="0"/>
              <a:t>centralized repository</a:t>
            </a:r>
            <a:r>
              <a:rPr lang="en-US" sz="2000" dirty="0"/>
              <a:t> that stores all enterprise data at any scale. Data Lakes </a:t>
            </a:r>
            <a:r>
              <a:rPr lang="en-US" sz="2000" b="1" dirty="0"/>
              <a:t>eliminates capacity constraints;</a:t>
            </a:r>
            <a:r>
              <a:rPr lang="en-US" sz="2000" dirty="0"/>
              <a:t> no more forced deletions or expensive upgrades. They offer </a:t>
            </a:r>
            <a:r>
              <a:rPr lang="en-US" sz="2000" b="1" dirty="0"/>
              <a:t>real-time processing, </a:t>
            </a:r>
            <a:r>
              <a:rPr lang="en-US" sz="2000" dirty="0"/>
              <a:t>which replaces nightly batch windows. Some Data Lakes are </a:t>
            </a:r>
            <a:r>
              <a:rPr lang="en-US" sz="2000" b="1" dirty="0"/>
              <a:t>open-source technology,</a:t>
            </a:r>
            <a:r>
              <a:rPr lang="en-US" sz="2000" dirty="0"/>
              <a:t> thus </a:t>
            </a:r>
            <a:r>
              <a:rPr lang="en-US" sz="2000" b="1" dirty="0"/>
              <a:t>no vendor lock-in.</a:t>
            </a:r>
          </a:p>
        </p:txBody>
      </p:sp>
      <p:sp>
        <p:nvSpPr>
          <p:cNvPr id="71" name="Google Shape;71;p14"/>
          <p:cNvSpPr txBox="1">
            <a:spLocks noGrp="1"/>
          </p:cNvSpPr>
          <p:nvPr>
            <p:ph type="subTitle" idx="2"/>
          </p:nvPr>
        </p:nvSpPr>
        <p:spPr>
          <a:xfrm>
            <a:off x="605400" y="1180500"/>
            <a:ext cx="7933200" cy="47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Executive summary</a:t>
            </a:r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605400" y="473950"/>
            <a:ext cx="793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Data Lake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605400" y="473950"/>
            <a:ext cx="793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 of Data Lake</a:t>
            </a:r>
            <a:endParaRPr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65B3492-6AD3-8042-2DAD-CEE61F84F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576" y="1209374"/>
            <a:ext cx="6570848" cy="33305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>
            <a:spLocks noGrp="1"/>
          </p:cNvSpPr>
          <p:nvPr>
            <p:ph type="body" idx="1"/>
          </p:nvPr>
        </p:nvSpPr>
        <p:spPr>
          <a:xfrm>
            <a:off x="1066775" y="1962650"/>
            <a:ext cx="7046400" cy="19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Data warehouses require extensive planning before storing information</a:t>
            </a:r>
          </a:p>
          <a:p>
            <a:r>
              <a:rPr lang="en-US" dirty="0"/>
              <a:t>Data lakes accept information in original form with flexibility for multiple uses</a:t>
            </a:r>
          </a:p>
          <a:p>
            <a:endParaRPr lang="en-US" dirty="0"/>
          </a:p>
          <a:p>
            <a:pPr marL="139700" indent="0" algn="ctr">
              <a:buNone/>
            </a:pPr>
            <a:r>
              <a:rPr lang="en-US" b="1" dirty="0"/>
              <a:t>Our </a:t>
            </a:r>
            <a:r>
              <a:rPr lang="en-US" b="1" u="sng" dirty="0"/>
              <a:t>current</a:t>
            </a:r>
            <a:r>
              <a:rPr lang="en-US" b="1" dirty="0"/>
              <a:t> SQL Server operates as a data warehouse - explaining our performance problems.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1048800" y="1129475"/>
            <a:ext cx="7046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Lake vs Data Warehouse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CB30A090-CC7A-E039-179E-36758E8B4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>
            <a:extLst>
              <a:ext uri="{FF2B5EF4-FFF2-40B4-BE49-F238E27FC236}">
                <a16:creationId xmlns:a16="http://schemas.microsoft.com/office/drawing/2014/main" id="{E6E505F8-09A7-C45E-8752-69AF8E1158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66775" y="1962650"/>
            <a:ext cx="7046400" cy="19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Data warehouses require extensive planning before storing information</a:t>
            </a:r>
          </a:p>
          <a:p>
            <a:r>
              <a:rPr lang="en-US" dirty="0"/>
              <a:t>Data lakes accept information in original form with flexibility for multiple uses</a:t>
            </a:r>
          </a:p>
          <a:p>
            <a:endParaRPr lang="en-US" dirty="0"/>
          </a:p>
          <a:p>
            <a:pPr marL="139700" indent="0" algn="ctr">
              <a:buNone/>
            </a:pPr>
            <a:r>
              <a:rPr lang="en-US" b="1" dirty="0"/>
              <a:t>Our </a:t>
            </a:r>
            <a:r>
              <a:rPr lang="en-US" b="1" u="sng" dirty="0"/>
              <a:t>current</a:t>
            </a:r>
            <a:r>
              <a:rPr lang="en-US" b="1" dirty="0"/>
              <a:t> SQL Server operates as a data warehouse - explaining our performance problems.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16">
            <a:extLst>
              <a:ext uri="{FF2B5EF4-FFF2-40B4-BE49-F238E27FC236}">
                <a16:creationId xmlns:a16="http://schemas.microsoft.com/office/drawing/2014/main" id="{39EB255C-D29A-AEB7-D275-CE77A8EA26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8800" y="1129475"/>
            <a:ext cx="7046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Lake vs Data Warehouse</a:t>
            </a:r>
            <a:endParaRPr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9CD3D04-8144-59E4-538D-46FD672B7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621" y="832209"/>
            <a:ext cx="8670758" cy="347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398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>
            <a:spLocks noGrp="1"/>
          </p:cNvSpPr>
          <p:nvPr>
            <p:ph type="subTitle" idx="2"/>
          </p:nvPr>
        </p:nvSpPr>
        <p:spPr>
          <a:xfrm>
            <a:off x="605400" y="1180500"/>
            <a:ext cx="7933200" cy="27979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400" dirty="0"/>
              <a:t>The </a:t>
            </a:r>
            <a:r>
              <a:rPr lang="en-US" sz="1400" b="1" dirty="0"/>
              <a:t>data lake</a:t>
            </a:r>
            <a:r>
              <a:rPr lang="en-US" sz="1400" dirty="0"/>
              <a:t> solution directly addresses our </a:t>
            </a:r>
            <a:r>
              <a:rPr lang="en-US" sz="1400" b="1" dirty="0"/>
              <a:t>three critical business challenges</a:t>
            </a:r>
            <a:r>
              <a:rPr lang="en-US" sz="1400" dirty="0"/>
              <a:t>. First, it </a:t>
            </a:r>
            <a:r>
              <a:rPr lang="en-US" sz="1400" b="1" dirty="0"/>
              <a:t>eliminates system downtime </a:t>
            </a:r>
            <a:r>
              <a:rPr lang="en-US" sz="1400" dirty="0"/>
              <a:t>that currently threatens customer relationships - the recent database crash that </a:t>
            </a:r>
            <a:r>
              <a:rPr lang="en-US" sz="1400" b="1" dirty="0"/>
              <a:t>took us offline</a:t>
            </a:r>
            <a:r>
              <a:rPr lang="en-US" sz="1400" dirty="0"/>
              <a:t> for hours cannot occur with fault-tolerant distributed architecture. Second, it enables </a:t>
            </a:r>
            <a:r>
              <a:rPr lang="en-US" sz="1400" b="1" dirty="0"/>
              <a:t>unlimited growth </a:t>
            </a:r>
            <a:r>
              <a:rPr lang="en-US" sz="1400" dirty="0"/>
              <a:t>to support our 8,000 facilities and 15-20% annual expansion without the capacity constraints forcing us to delete historical data today. Third, it </a:t>
            </a:r>
            <a:r>
              <a:rPr lang="en-US" sz="1400" b="1" dirty="0"/>
              <a:t>transforms our competitive position </a:t>
            </a:r>
            <a:r>
              <a:rPr lang="en-US" sz="1400" dirty="0"/>
              <a:t>by enabling </a:t>
            </a:r>
            <a:r>
              <a:rPr lang="en-US" sz="1400" b="1" dirty="0"/>
              <a:t>real-time dashboards </a:t>
            </a:r>
            <a:r>
              <a:rPr lang="en-US" sz="1400" dirty="0"/>
              <a:t>and </a:t>
            </a:r>
            <a:r>
              <a:rPr lang="en-US" sz="1400" b="1" dirty="0"/>
              <a:t>machine learning capabilities </a:t>
            </a:r>
            <a:r>
              <a:rPr lang="en-US" sz="1400" dirty="0"/>
              <a:t>that our current nightly-batch-only system cannot support, allowing us to deliver the advanced analytics our customers increasingly demand. Additionally, replacing 70+ custom scripts with </a:t>
            </a:r>
            <a:r>
              <a:rPr lang="en-US" sz="1400" b="1" dirty="0"/>
              <a:t>automated workflows </a:t>
            </a:r>
            <a:r>
              <a:rPr lang="en-US" sz="1400" dirty="0"/>
              <a:t>and </a:t>
            </a:r>
            <a:r>
              <a:rPr lang="en-US" sz="1400" b="1" dirty="0"/>
              <a:t>eliminating expensive proprietary licensing</a:t>
            </a:r>
            <a:r>
              <a:rPr lang="en-US" sz="1400" dirty="0"/>
              <a:t> reduces operational costs by an estimated </a:t>
            </a:r>
            <a:r>
              <a:rPr lang="en-US" sz="1400" b="1" dirty="0"/>
              <a:t>30-40% </a:t>
            </a:r>
            <a:r>
              <a:rPr lang="en-US" sz="1400" dirty="0"/>
              <a:t>while </a:t>
            </a:r>
            <a:r>
              <a:rPr lang="en-US" sz="1400" b="1" dirty="0"/>
              <a:t>improving reliability </a:t>
            </a:r>
            <a:r>
              <a:rPr lang="en-US" sz="1400" dirty="0"/>
              <a:t>and </a:t>
            </a:r>
            <a:r>
              <a:rPr lang="en-US" sz="1400" b="1" dirty="0"/>
              <a:t>accelerating innovation </a:t>
            </a:r>
            <a:r>
              <a:rPr lang="en-US" sz="1400" dirty="0"/>
              <a:t>timelines </a:t>
            </a:r>
            <a:r>
              <a:rPr lang="en-US" sz="1400" b="1" dirty="0"/>
              <a:t>from months to weeks</a:t>
            </a:r>
            <a:r>
              <a:rPr lang="en-US" sz="1400" dirty="0"/>
              <a:t>.</a:t>
            </a:r>
            <a:endParaRPr sz="1400" b="1" dirty="0"/>
          </a:p>
        </p:txBody>
      </p:sp>
      <p:sp>
        <p:nvSpPr>
          <p:cNvPr id="101" name="Google Shape;101;p18"/>
          <p:cNvSpPr txBox="1">
            <a:spLocks noGrp="1"/>
          </p:cNvSpPr>
          <p:nvPr>
            <p:ph type="title"/>
          </p:nvPr>
        </p:nvSpPr>
        <p:spPr>
          <a:xfrm>
            <a:off x="605400" y="473950"/>
            <a:ext cx="793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Value of Data Lake</a:t>
            </a:r>
            <a:endParaRPr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BBAE4BA-4C02-324A-B4FF-0B60D61A1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91791"/>
            <a:ext cx="9144000" cy="12260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>
            <a:spLocks noGrp="1"/>
          </p:cNvSpPr>
          <p:nvPr>
            <p:ph type="title"/>
          </p:nvPr>
        </p:nvSpPr>
        <p:spPr>
          <a:xfrm>
            <a:off x="605400" y="473950"/>
            <a:ext cx="793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Lake Architecture</a:t>
            </a:r>
            <a:endParaRPr/>
          </a:p>
        </p:txBody>
      </p:sp>
      <p:pic>
        <p:nvPicPr>
          <p:cNvPr id="5" name="Picture 4" descr="A diagram of a flowchart&#10;&#10;AI-generated content may be incorrect.">
            <a:extLst>
              <a:ext uri="{FF2B5EF4-FFF2-40B4-BE49-F238E27FC236}">
                <a16:creationId xmlns:a16="http://schemas.microsoft.com/office/drawing/2014/main" id="{47D744F1-0ABD-C1C0-1A4B-5CCBC132C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10" y="958353"/>
            <a:ext cx="7607779" cy="34974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1C3834-C3C9-3CB8-B5EC-F6F2127B9F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67460"/>
            <a:ext cx="9144000" cy="776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0"/>
          <p:cNvPicPr preferRelativeResize="0"/>
          <p:nvPr/>
        </p:nvPicPr>
        <p:blipFill rotWithShape="1">
          <a:blip r:embed="rId3">
            <a:alphaModFix/>
          </a:blip>
          <a:srcRect l="9957" t="35735" r="10513" b="35787"/>
          <a:stretch/>
        </p:blipFill>
        <p:spPr>
          <a:xfrm>
            <a:off x="2963449" y="497350"/>
            <a:ext cx="3217100" cy="863899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 txBox="1">
            <a:spLocks noGrp="1"/>
          </p:cNvSpPr>
          <p:nvPr>
            <p:ph type="title"/>
          </p:nvPr>
        </p:nvSpPr>
        <p:spPr>
          <a:xfrm>
            <a:off x="2086350" y="2198475"/>
            <a:ext cx="4886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THANK YOU</a:t>
            </a:r>
            <a:endParaRPr sz="2200" b="0"/>
          </a:p>
        </p:txBody>
      </p:sp>
      <p:sp>
        <p:nvSpPr>
          <p:cNvPr id="115" name="Google Shape;115;p20"/>
          <p:cNvSpPr txBox="1"/>
          <p:nvPr/>
        </p:nvSpPr>
        <p:spPr>
          <a:xfrm>
            <a:off x="7705200" y="4829825"/>
            <a:ext cx="156480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Udacity IPS Version 1.0</a:t>
            </a:r>
            <a:endParaRPr sz="80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352</Words>
  <Application>Microsoft Office PowerPoint</Application>
  <PresentationFormat>On-screen Show (16:9)</PresentationFormat>
  <Paragraphs>30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Open Sans</vt:lpstr>
      <vt:lpstr>Simple Light</vt:lpstr>
      <vt:lpstr>Data Lake Value Proposition</vt:lpstr>
      <vt:lpstr>Agenda</vt:lpstr>
      <vt:lpstr>What is a Data Lake</vt:lpstr>
      <vt:lpstr>Components of Data Lake</vt:lpstr>
      <vt:lpstr>Data Lake vs Data Warehouse</vt:lpstr>
      <vt:lpstr>Data Lake vs Data Warehouse</vt:lpstr>
      <vt:lpstr>Business Value of Data Lake</vt:lpstr>
      <vt:lpstr>Data Lake Architecture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Christopher O'Hara</cp:lastModifiedBy>
  <cp:revision>1</cp:revision>
  <dcterms:modified xsi:type="dcterms:W3CDTF">2025-11-17T08:51:23Z</dcterms:modified>
</cp:coreProperties>
</file>